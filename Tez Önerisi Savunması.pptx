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5.jpg" ContentType="image/unknown"/>
  <Override PartName="/ppt/media/image6.jpg" ContentType="image/unknown"/>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06" r:id="rId4"/>
    <p:sldId id="259" r:id="rId5"/>
    <p:sldId id="257" r:id="rId6"/>
    <p:sldId id="311" r:id="rId7"/>
    <p:sldId id="300" r:id="rId8"/>
    <p:sldId id="301" r:id="rId9"/>
    <p:sldId id="302" r:id="rId10"/>
    <p:sldId id="323" r:id="rId11"/>
    <p:sldId id="260" r:id="rId12"/>
    <p:sldId id="261" r:id="rId13"/>
    <p:sldId id="308" r:id="rId14"/>
    <p:sldId id="309" r:id="rId15"/>
    <p:sldId id="262" r:id="rId16"/>
    <p:sldId id="310" r:id="rId17"/>
    <p:sldId id="263" r:id="rId18"/>
    <p:sldId id="312" r:id="rId19"/>
    <p:sldId id="321" r:id="rId20"/>
    <p:sldId id="264" r:id="rId21"/>
    <p:sldId id="313" r:id="rId22"/>
    <p:sldId id="265" r:id="rId23"/>
    <p:sldId id="314" r:id="rId24"/>
    <p:sldId id="266" r:id="rId25"/>
    <p:sldId id="315" r:id="rId26"/>
    <p:sldId id="267" r:id="rId27"/>
    <p:sldId id="316" r:id="rId28"/>
    <p:sldId id="268" r:id="rId29"/>
    <p:sldId id="317" r:id="rId30"/>
    <p:sldId id="269" r:id="rId31"/>
    <p:sldId id="318" r:id="rId32"/>
    <p:sldId id="320" r:id="rId33"/>
    <p:sldId id="307" r:id="rId34"/>
    <p:sldId id="319" r:id="rId35"/>
    <p:sldId id="322" r:id="rId36"/>
    <p:sldId id="270" r:id="rId37"/>
    <p:sldId id="303" r:id="rId38"/>
    <p:sldId id="304" r:id="rId39"/>
    <p:sldId id="271" r:id="rId40"/>
    <p:sldId id="272" r:id="rId41"/>
    <p:sldId id="305" r:id="rId42"/>
    <p:sldId id="273" r:id="rId43"/>
    <p:sldId id="274" r:id="rId44"/>
    <p:sldId id="275" r:id="rId45"/>
    <p:sldId id="324" r:id="rId46"/>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p:cNvSpPr>
            <a:spLocks noGrp="1"/>
          </p:cNvSpPr>
          <p:nvPr>
            <p:ph type="dt" sz="half" idx="10"/>
          </p:nvPr>
        </p:nvSpPr>
        <p:spPr/>
        <p:txBody>
          <a:bodyPr/>
          <a:lstStyle/>
          <a:p>
            <a:fld id="{8AE3DF45-1FAB-413A-8B71-D7E9F07116C0}" type="datetimeFigureOut">
              <a:rPr lang="tr-TR" smtClean="0"/>
              <a:t>9.12.2025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1842276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8AE3DF45-1FAB-413A-8B71-D7E9F07116C0}" type="datetimeFigureOut">
              <a:rPr lang="tr-TR" smtClean="0"/>
              <a:t>9.12.2025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287101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Veri Yer Tutucusu 3"/>
          <p:cNvSpPr>
            <a:spLocks noGrp="1"/>
          </p:cNvSpPr>
          <p:nvPr>
            <p:ph type="dt" sz="half" idx="10"/>
          </p:nvPr>
        </p:nvSpPr>
        <p:spPr/>
        <p:txBody>
          <a:bodyPr/>
          <a:lstStyle/>
          <a:p>
            <a:fld id="{8AE3DF45-1FAB-413A-8B71-D7E9F07116C0}" type="datetimeFigureOut">
              <a:rPr lang="tr-TR" smtClean="0"/>
              <a:t>9.12.2025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3344989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8AE3DF45-1FAB-413A-8B71-D7E9F07116C0}" type="datetimeFigureOut">
              <a:rPr lang="tr-TR" smtClean="0"/>
              <a:t>9.12.2025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732141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8AE3DF45-1FAB-413A-8B71-D7E9F07116C0}" type="datetimeFigureOut">
              <a:rPr lang="tr-TR" smtClean="0"/>
              <a:t>9.12.2025</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1724320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8AE3DF45-1FAB-413A-8B71-D7E9F07116C0}" type="datetimeFigureOut">
              <a:rPr lang="tr-TR" smtClean="0"/>
              <a:t>9.12.2025</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21377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8AE3DF45-1FAB-413A-8B71-D7E9F07116C0}" type="datetimeFigureOut">
              <a:rPr lang="tr-TR" smtClean="0"/>
              <a:t>9.12.2025</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3456698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8AE3DF45-1FAB-413A-8B71-D7E9F07116C0}" type="datetimeFigureOut">
              <a:rPr lang="tr-TR" smtClean="0"/>
              <a:t>9.12.2025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795306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8AE3DF45-1FAB-413A-8B71-D7E9F07116C0}" type="datetimeFigureOut">
              <a:rPr lang="tr-TR" smtClean="0"/>
              <a:t>9.12.2025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2295748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8AE3DF45-1FAB-413A-8B71-D7E9F07116C0}" type="datetimeFigureOut">
              <a:rPr lang="tr-TR" smtClean="0"/>
              <a:t>9.12.2025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2314144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8AE3DF45-1FAB-413A-8B71-D7E9F07116C0}" type="datetimeFigureOut">
              <a:rPr lang="tr-TR" smtClean="0"/>
              <a:t>9.12.2025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9646D55-C34F-402C-8E63-81ECEBF061CD}" type="slidenum">
              <a:rPr lang="tr-TR" smtClean="0"/>
              <a:t>‹#›</a:t>
            </a:fld>
            <a:endParaRPr lang="tr-TR"/>
          </a:p>
        </p:txBody>
      </p:sp>
    </p:spTree>
    <p:extLst>
      <p:ext uri="{BB962C8B-B14F-4D97-AF65-F5344CB8AC3E}">
        <p14:creationId xmlns:p14="http://schemas.microsoft.com/office/powerpoint/2010/main" val="15151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E3DF45-1FAB-413A-8B71-D7E9F07116C0}" type="datetimeFigureOut">
              <a:rPr lang="tr-TR" smtClean="0"/>
              <a:t>9.12.2025</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646D55-C34F-402C-8E63-81ECEBF061CD}" type="slidenum">
              <a:rPr lang="tr-TR" smtClean="0"/>
              <a:t>‹#›</a:t>
            </a:fld>
            <a:endParaRPr lang="tr-TR"/>
          </a:p>
        </p:txBody>
      </p:sp>
    </p:spTree>
    <p:extLst>
      <p:ext uri="{BB962C8B-B14F-4D97-AF65-F5344CB8AC3E}">
        <p14:creationId xmlns:p14="http://schemas.microsoft.com/office/powerpoint/2010/main" val="1538090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1133"/>
            <a:ext cx="9144000" cy="1816335"/>
          </a:xfrm>
        </p:spPr>
        <p:txBody>
          <a:bodyPr>
            <a:noAutofit/>
          </a:bodyPr>
          <a:lstStyle/>
          <a:p>
            <a:r>
              <a:rPr lang="tr-TR" dirty="0" err="1"/>
              <a:t>Spatio</a:t>
            </a:r>
            <a:r>
              <a:rPr lang="tr-TR" dirty="0"/>
              <a:t> GNN Kullanılarak Trafikte Kritik Nokta Analizi</a:t>
            </a:r>
          </a:p>
        </p:txBody>
      </p:sp>
      <p:sp>
        <p:nvSpPr>
          <p:cNvPr id="3" name="Alt Başlık 2"/>
          <p:cNvSpPr>
            <a:spLocks noGrp="1"/>
          </p:cNvSpPr>
          <p:nvPr>
            <p:ph type="subTitle" idx="1"/>
          </p:nvPr>
        </p:nvSpPr>
        <p:spPr/>
        <p:txBody>
          <a:bodyPr/>
          <a:lstStyle/>
          <a:p>
            <a:r>
              <a:rPr lang="tr-TR" dirty="0"/>
              <a:t>Hazırlayan: Mehmet Cüneyt ÖZBALCI</a:t>
            </a:r>
          </a:p>
          <a:p>
            <a:r>
              <a:rPr lang="tr-TR" dirty="0"/>
              <a:t>Danışmanı: Doç. Dr. İzzet Fatih ŞENTÜRK</a:t>
            </a:r>
          </a:p>
          <a:p>
            <a:endParaRPr lang="tr-TR" dirty="0"/>
          </a:p>
        </p:txBody>
      </p:sp>
    </p:spTree>
    <p:extLst>
      <p:ext uri="{BB962C8B-B14F-4D97-AF65-F5344CB8AC3E}">
        <p14:creationId xmlns:p14="http://schemas.microsoft.com/office/powerpoint/2010/main" val="1705504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GNN (</a:t>
            </a:r>
            <a:r>
              <a:rPr lang="tr-TR" dirty="0" err="1"/>
              <a:t>Graph</a:t>
            </a:r>
            <a:r>
              <a:rPr lang="tr-TR" dirty="0"/>
              <a:t> </a:t>
            </a:r>
            <a:r>
              <a:rPr lang="tr-TR" dirty="0" err="1"/>
              <a:t>Neural</a:t>
            </a:r>
            <a:r>
              <a:rPr lang="tr-TR" dirty="0"/>
              <a:t> Network)</a:t>
            </a:r>
          </a:p>
        </p:txBody>
      </p:sp>
      <p:sp>
        <p:nvSpPr>
          <p:cNvPr id="3" name="İçerik Yer Tutucusu 2"/>
          <p:cNvSpPr>
            <a:spLocks noGrp="1"/>
          </p:cNvSpPr>
          <p:nvPr>
            <p:ph idx="1"/>
          </p:nvPr>
        </p:nvSpPr>
        <p:spPr/>
        <p:txBody>
          <a:bodyPr>
            <a:normAutofit/>
          </a:bodyPr>
          <a:lstStyle/>
          <a:p>
            <a:pPr algn="just"/>
            <a:r>
              <a:rPr lang="tr-TR" dirty="0"/>
              <a:t>GNN, düğümler arasındaki ilişkileri dikkate alarak öğrenen yapay sinir ağı modelleridir.</a:t>
            </a:r>
          </a:p>
          <a:p>
            <a:pPr algn="just"/>
            <a:r>
              <a:rPr lang="tr-TR" dirty="0" err="1"/>
              <a:t>GNN’ler</a:t>
            </a:r>
            <a:r>
              <a:rPr lang="tr-TR" dirty="0"/>
              <a:t> komşu bilgisi toplama + güncelleme + mesaj yayma prensibine dayanır.</a:t>
            </a:r>
          </a:p>
          <a:p>
            <a:pPr algn="just"/>
            <a:r>
              <a:rPr lang="tr-TR" dirty="0"/>
              <a:t>Bir </a:t>
            </a:r>
            <a:r>
              <a:rPr lang="tr-TR" dirty="0" err="1"/>
              <a:t>grafı</a:t>
            </a:r>
            <a:r>
              <a:rPr lang="tr-TR" dirty="0"/>
              <a:t> anlamlı kılan düğüm, kenar ve bunların birbirlerine olan ilişkisidir</a:t>
            </a:r>
          </a:p>
          <a:p>
            <a:pPr algn="just"/>
            <a:r>
              <a:rPr lang="tr-TR" dirty="0"/>
              <a:t>Sosyal ağlarda, trafik ağlarında, öneri sistemlerinde, moleküler biyoloji, </a:t>
            </a:r>
            <a:r>
              <a:rPr lang="tr-TR" dirty="0" err="1"/>
              <a:t>biyoinformatik</a:t>
            </a:r>
            <a:r>
              <a:rPr lang="tr-TR" dirty="0"/>
              <a:t> gibi alanlarda kullanımı oldukça yaygındır.</a:t>
            </a:r>
            <a:br>
              <a:rPr lang="tr-TR" dirty="0"/>
            </a:br>
            <a:endParaRPr lang="tr-TR" dirty="0"/>
          </a:p>
        </p:txBody>
      </p:sp>
    </p:spTree>
    <p:extLst>
      <p:ext uri="{BB962C8B-B14F-4D97-AF65-F5344CB8AC3E}">
        <p14:creationId xmlns:p14="http://schemas.microsoft.com/office/powerpoint/2010/main" val="436084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GNN (</a:t>
            </a:r>
            <a:r>
              <a:rPr lang="tr-TR" dirty="0" err="1"/>
              <a:t>Graph</a:t>
            </a:r>
            <a:r>
              <a:rPr lang="tr-TR" dirty="0"/>
              <a:t> </a:t>
            </a:r>
            <a:r>
              <a:rPr lang="tr-TR" dirty="0" err="1"/>
              <a:t>Neural</a:t>
            </a:r>
            <a:r>
              <a:rPr lang="tr-TR" dirty="0"/>
              <a:t> Network)</a:t>
            </a:r>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0018" y="1415332"/>
            <a:ext cx="9147265" cy="4961613"/>
          </a:xfrm>
        </p:spPr>
      </p:pic>
    </p:spTree>
    <p:extLst>
      <p:ext uri="{BB962C8B-B14F-4D97-AF65-F5344CB8AC3E}">
        <p14:creationId xmlns:p14="http://schemas.microsoft.com/office/powerpoint/2010/main" val="24270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GNN (</a:t>
            </a:r>
            <a:r>
              <a:rPr lang="tr-TR" dirty="0" err="1"/>
              <a:t>Graph</a:t>
            </a:r>
            <a:r>
              <a:rPr lang="tr-TR" dirty="0"/>
              <a:t> </a:t>
            </a:r>
            <a:r>
              <a:rPr lang="tr-TR" dirty="0" err="1"/>
              <a:t>Neural</a:t>
            </a:r>
            <a:r>
              <a:rPr lang="tr-TR" dirty="0"/>
              <a:t> Network)</a:t>
            </a:r>
          </a:p>
        </p:txBody>
      </p:sp>
      <p:sp>
        <p:nvSpPr>
          <p:cNvPr id="3" name="İçerik Yer Tutucusu 2"/>
          <p:cNvSpPr>
            <a:spLocks noGrp="1"/>
          </p:cNvSpPr>
          <p:nvPr>
            <p:ph idx="1"/>
          </p:nvPr>
        </p:nvSpPr>
        <p:spPr/>
        <p:txBody>
          <a:bodyPr/>
          <a:lstStyle/>
          <a:p>
            <a:pPr marL="0" indent="0" algn="just">
              <a:buNone/>
            </a:pPr>
            <a:r>
              <a:rPr lang="tr-TR" dirty="0"/>
              <a:t>Avantajları:</a:t>
            </a:r>
          </a:p>
          <a:p>
            <a:pPr algn="just"/>
            <a:r>
              <a:rPr lang="tr-TR" dirty="0"/>
              <a:t>Verilerin entegrasyonu</a:t>
            </a:r>
          </a:p>
          <a:p>
            <a:pPr algn="just"/>
            <a:r>
              <a:rPr lang="tr-TR" dirty="0"/>
              <a:t>Bağlamı Etkin Şekilde Yakalama</a:t>
            </a:r>
          </a:p>
          <a:p>
            <a:pPr algn="just"/>
            <a:r>
              <a:rPr lang="tr-TR" dirty="0" err="1"/>
              <a:t>Graf</a:t>
            </a:r>
            <a:r>
              <a:rPr lang="tr-TR" dirty="0"/>
              <a:t> verileri için üstün performans</a:t>
            </a:r>
          </a:p>
          <a:p>
            <a:pPr marL="0" indent="0" algn="just">
              <a:buNone/>
            </a:pPr>
            <a:r>
              <a:rPr lang="tr-TR" dirty="0"/>
              <a:t>Dezavantajları:</a:t>
            </a:r>
          </a:p>
          <a:p>
            <a:pPr algn="just"/>
            <a:r>
              <a:rPr lang="tr-TR" dirty="0" err="1"/>
              <a:t>Over-Smoothing</a:t>
            </a:r>
            <a:endParaRPr lang="tr-TR" dirty="0"/>
          </a:p>
          <a:p>
            <a:pPr algn="just"/>
            <a:r>
              <a:rPr lang="tr-TR" dirty="0"/>
              <a:t>Veri işleme zorluğu</a:t>
            </a:r>
          </a:p>
          <a:p>
            <a:pPr algn="just"/>
            <a:r>
              <a:rPr lang="tr-TR" dirty="0"/>
              <a:t>Çok büyük veriler</a:t>
            </a:r>
          </a:p>
        </p:txBody>
      </p:sp>
    </p:spTree>
    <p:extLst>
      <p:ext uri="{BB962C8B-B14F-4D97-AF65-F5344CB8AC3E}">
        <p14:creationId xmlns:p14="http://schemas.microsoft.com/office/powerpoint/2010/main" val="3554884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GNN (</a:t>
            </a:r>
            <a:r>
              <a:rPr lang="tr-TR" dirty="0" err="1"/>
              <a:t>Graph</a:t>
            </a:r>
            <a:r>
              <a:rPr lang="tr-TR" dirty="0"/>
              <a:t> </a:t>
            </a:r>
            <a:r>
              <a:rPr lang="tr-TR" dirty="0" err="1"/>
              <a:t>Neural</a:t>
            </a:r>
            <a:r>
              <a:rPr lang="tr-TR" dirty="0"/>
              <a:t> Network)</a:t>
            </a:r>
          </a:p>
        </p:txBody>
      </p:sp>
      <p:pic>
        <p:nvPicPr>
          <p:cNvPr id="7" name="İçerik Yer Tutucusu 6">
            <a:extLst>
              <a:ext uri="{FF2B5EF4-FFF2-40B4-BE49-F238E27FC236}">
                <a16:creationId xmlns:a16="http://schemas.microsoft.com/office/drawing/2014/main" id="{B556E8EE-EA93-A719-6040-138219F9EA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6464" y="1793289"/>
            <a:ext cx="7189478" cy="4050072"/>
          </a:xfrm>
        </p:spPr>
      </p:pic>
    </p:spTree>
    <p:extLst>
      <p:ext uri="{BB962C8B-B14F-4D97-AF65-F5344CB8AC3E}">
        <p14:creationId xmlns:p14="http://schemas.microsoft.com/office/powerpoint/2010/main" val="686818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48F58B5-4E75-6DBB-1E71-20128A09491B}"/>
              </a:ext>
            </a:extLst>
          </p:cNvPr>
          <p:cNvSpPr>
            <a:spLocks noGrp="1"/>
          </p:cNvSpPr>
          <p:nvPr>
            <p:ph type="title"/>
          </p:nvPr>
        </p:nvSpPr>
        <p:spPr/>
        <p:txBody>
          <a:bodyPr/>
          <a:lstStyle/>
          <a:p>
            <a:r>
              <a:rPr lang="tr-TR" dirty="0"/>
              <a:t>GNN (</a:t>
            </a:r>
            <a:r>
              <a:rPr lang="tr-TR" dirty="0" err="1"/>
              <a:t>Graph</a:t>
            </a:r>
            <a:r>
              <a:rPr lang="tr-TR" dirty="0"/>
              <a:t> </a:t>
            </a:r>
            <a:r>
              <a:rPr lang="tr-TR" dirty="0" err="1"/>
              <a:t>Neural</a:t>
            </a:r>
            <a:r>
              <a:rPr lang="tr-TR" dirty="0"/>
              <a:t> Network)</a:t>
            </a:r>
          </a:p>
        </p:txBody>
      </p:sp>
      <p:pic>
        <p:nvPicPr>
          <p:cNvPr id="5" name="İçerik Yer Tutucusu 4">
            <a:extLst>
              <a:ext uri="{FF2B5EF4-FFF2-40B4-BE49-F238E27FC236}">
                <a16:creationId xmlns:a16="http://schemas.microsoft.com/office/drawing/2014/main" id="{FCF77AEA-F261-195A-0B02-0370124ED3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6821" y="1690688"/>
            <a:ext cx="6680748" cy="4041855"/>
          </a:xfrm>
        </p:spPr>
      </p:pic>
    </p:spTree>
    <p:extLst>
      <p:ext uri="{BB962C8B-B14F-4D97-AF65-F5344CB8AC3E}">
        <p14:creationId xmlns:p14="http://schemas.microsoft.com/office/powerpoint/2010/main" val="4058476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Spatio</a:t>
            </a:r>
            <a:r>
              <a:rPr lang="tr-TR" dirty="0"/>
              <a:t> GNN</a:t>
            </a:r>
          </a:p>
        </p:txBody>
      </p:sp>
      <p:sp>
        <p:nvSpPr>
          <p:cNvPr id="3" name="İçerik Yer Tutucusu 2"/>
          <p:cNvSpPr>
            <a:spLocks noGrp="1"/>
          </p:cNvSpPr>
          <p:nvPr>
            <p:ph idx="1"/>
          </p:nvPr>
        </p:nvSpPr>
        <p:spPr/>
        <p:txBody>
          <a:bodyPr>
            <a:normAutofit fontScale="92500" lnSpcReduction="20000"/>
          </a:bodyPr>
          <a:lstStyle/>
          <a:p>
            <a:pPr algn="just"/>
            <a:r>
              <a:rPr lang="tr-TR" dirty="0" err="1"/>
              <a:t>Spatio</a:t>
            </a:r>
            <a:r>
              <a:rPr lang="tr-TR" dirty="0"/>
              <a:t>-GNN (</a:t>
            </a:r>
            <a:r>
              <a:rPr lang="tr-TR" dirty="0" err="1"/>
              <a:t>Spatio-Temporal</a:t>
            </a:r>
            <a:r>
              <a:rPr lang="tr-TR" dirty="0"/>
              <a:t> </a:t>
            </a:r>
            <a:r>
              <a:rPr lang="tr-TR" dirty="0" err="1"/>
              <a:t>Graph</a:t>
            </a:r>
            <a:r>
              <a:rPr lang="tr-TR" dirty="0"/>
              <a:t> </a:t>
            </a:r>
            <a:r>
              <a:rPr lang="tr-TR" dirty="0" err="1"/>
              <a:t>Neural</a:t>
            </a:r>
            <a:r>
              <a:rPr lang="tr-TR" dirty="0"/>
              <a:t> Network) mekânsal ve zamansal bağımlılıkları aynı anda öğrenebilen derin öğrenme modelidir.</a:t>
            </a:r>
          </a:p>
          <a:p>
            <a:pPr algn="just"/>
            <a:r>
              <a:rPr lang="tr-TR" dirty="0" err="1"/>
              <a:t>Spatio-GNN’de</a:t>
            </a:r>
            <a:r>
              <a:rPr lang="tr-TR" dirty="0"/>
              <a:t> </a:t>
            </a:r>
            <a:r>
              <a:rPr lang="tr-TR" dirty="0" err="1"/>
              <a:t>graflar</a:t>
            </a:r>
            <a:r>
              <a:rPr lang="tr-TR" dirty="0"/>
              <a:t> arası ilişki ve zaman serisi birlikte işlenmektedir.</a:t>
            </a:r>
          </a:p>
          <a:p>
            <a:pPr algn="just"/>
            <a:r>
              <a:rPr lang="tr-TR" dirty="0" err="1"/>
              <a:t>Spatio</a:t>
            </a:r>
            <a:r>
              <a:rPr lang="tr-TR" dirty="0"/>
              <a:t> </a:t>
            </a:r>
            <a:r>
              <a:rPr lang="tr-TR" dirty="0" err="1"/>
              <a:t>GNN'ler</a:t>
            </a:r>
            <a:r>
              <a:rPr lang="tr-TR" dirty="0"/>
              <a:t> </a:t>
            </a:r>
            <a:r>
              <a:rPr lang="tr-TR" dirty="0" err="1"/>
              <a:t>konvolüsyonel</a:t>
            </a:r>
            <a:r>
              <a:rPr lang="tr-TR" dirty="0"/>
              <a:t> işlemi tanımlamak için genellikle komşu düğümlerin temsillerine dayalı olarak düğüm temsillerinin güncellenmesini içermektedir.</a:t>
            </a:r>
          </a:p>
          <a:p>
            <a:pPr marL="0" indent="0" algn="just">
              <a:buNone/>
            </a:pPr>
            <a:endParaRPr lang="tr-TR" b="1" dirty="0"/>
          </a:p>
          <a:p>
            <a:pPr marL="0" indent="0" algn="just">
              <a:buNone/>
            </a:pPr>
            <a:r>
              <a:rPr lang="tr-TR" b="1" dirty="0"/>
              <a:t>Çalışma mantığı: </a:t>
            </a:r>
          </a:p>
          <a:p>
            <a:pPr algn="just"/>
            <a:r>
              <a:rPr lang="tr-TR" dirty="0"/>
              <a:t>Her düğüm komşularından bilgi toplar.</a:t>
            </a:r>
          </a:p>
          <a:p>
            <a:pPr algn="just"/>
            <a:r>
              <a:rPr lang="tr-TR" dirty="0"/>
              <a:t>Her düğümün geçmiş değerleri işlenir.</a:t>
            </a:r>
          </a:p>
          <a:p>
            <a:pPr algn="just"/>
            <a:r>
              <a:rPr lang="tr-TR" dirty="0"/>
              <a:t>Mekânsal ve zamansal bilgilerin tek bir temsilde birleştirilir.</a:t>
            </a:r>
          </a:p>
          <a:p>
            <a:pPr algn="just"/>
            <a:endParaRPr lang="tr-TR" dirty="0"/>
          </a:p>
        </p:txBody>
      </p:sp>
    </p:spTree>
    <p:extLst>
      <p:ext uri="{BB962C8B-B14F-4D97-AF65-F5344CB8AC3E}">
        <p14:creationId xmlns:p14="http://schemas.microsoft.com/office/powerpoint/2010/main" val="2775433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Spatio</a:t>
            </a:r>
            <a:r>
              <a:rPr lang="tr-TR" dirty="0"/>
              <a:t> GNN</a:t>
            </a:r>
          </a:p>
        </p:txBody>
      </p:sp>
      <p:graphicFrame>
        <p:nvGraphicFramePr>
          <p:cNvPr id="10" name="İçerik Yer Tutucusu 9"/>
          <p:cNvGraphicFramePr>
            <a:graphicFrameLocks noGrp="1"/>
          </p:cNvGraphicFramePr>
          <p:nvPr>
            <p:ph idx="1"/>
            <p:extLst>
              <p:ext uri="{D42A27DB-BD31-4B8C-83A1-F6EECF244321}">
                <p14:modId xmlns:p14="http://schemas.microsoft.com/office/powerpoint/2010/main" val="686224280"/>
              </p:ext>
            </p:extLst>
          </p:nvPr>
        </p:nvGraphicFramePr>
        <p:xfrm>
          <a:off x="838200" y="2115047"/>
          <a:ext cx="10515600" cy="3339546"/>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68903541"/>
                    </a:ext>
                  </a:extLst>
                </a:gridCol>
                <a:gridCol w="3505200">
                  <a:extLst>
                    <a:ext uri="{9D8B030D-6E8A-4147-A177-3AD203B41FA5}">
                      <a16:colId xmlns:a16="http://schemas.microsoft.com/office/drawing/2014/main" val="3099476541"/>
                    </a:ext>
                  </a:extLst>
                </a:gridCol>
                <a:gridCol w="3505200">
                  <a:extLst>
                    <a:ext uri="{9D8B030D-6E8A-4147-A177-3AD203B41FA5}">
                      <a16:colId xmlns:a16="http://schemas.microsoft.com/office/drawing/2014/main" val="2310509526"/>
                    </a:ext>
                  </a:extLst>
                </a:gridCol>
              </a:tblGrid>
              <a:tr h="556591">
                <a:tc>
                  <a:txBody>
                    <a:bodyPr/>
                    <a:lstStyle/>
                    <a:p>
                      <a:pPr algn="ctr">
                        <a:lnSpc>
                          <a:spcPct val="107000"/>
                        </a:lnSpc>
                        <a:spcAft>
                          <a:spcPts val="0"/>
                        </a:spcAft>
                      </a:pPr>
                      <a:r>
                        <a:rPr lang="tr-TR" sz="1200">
                          <a:effectLst/>
                        </a:rPr>
                        <a:t>Birleştirme Yöntemi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tr-TR" sz="1200">
                          <a:effectLst/>
                        </a:rPr>
                        <a:t>Kullanıldığı modeller</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tr-TR" sz="1200">
                          <a:effectLst/>
                        </a:rPr>
                        <a:t>Avantajı</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46431519"/>
                  </a:ext>
                </a:extLst>
              </a:tr>
              <a:tr h="556591">
                <a:tc>
                  <a:txBody>
                    <a:bodyPr/>
                    <a:lstStyle/>
                    <a:p>
                      <a:pPr>
                        <a:lnSpc>
                          <a:spcPct val="107000"/>
                        </a:lnSpc>
                        <a:spcAft>
                          <a:spcPts val="0"/>
                        </a:spcAft>
                      </a:pPr>
                      <a:r>
                        <a:rPr lang="tr-TR" sz="1200">
                          <a:effectLst/>
                        </a:rPr>
                        <a:t>Concatenation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STGCN, GraphWaveNet</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Basit, etkili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11761872"/>
                  </a:ext>
                </a:extLst>
              </a:tr>
              <a:tr h="556591">
                <a:tc>
                  <a:txBody>
                    <a:bodyPr/>
                    <a:lstStyle/>
                    <a:p>
                      <a:pPr>
                        <a:lnSpc>
                          <a:spcPct val="107000"/>
                        </a:lnSpc>
                        <a:spcAft>
                          <a:spcPts val="0"/>
                        </a:spcAft>
                      </a:pPr>
                      <a:r>
                        <a:rPr lang="tr-TR" sz="1200" dirty="0" err="1">
                          <a:effectLst/>
                        </a:rPr>
                        <a:t>Additive</a:t>
                      </a:r>
                      <a:r>
                        <a:rPr lang="tr-TR" sz="1200" dirty="0">
                          <a:effectLst/>
                        </a:rPr>
                        <a:t> </a:t>
                      </a:r>
                      <a:r>
                        <a:rPr lang="tr-TR" sz="1200" dirty="0" err="1">
                          <a:effectLst/>
                        </a:rPr>
                        <a:t>Fusion</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STGCN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Kompakt</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70564404"/>
                  </a:ext>
                </a:extLst>
              </a:tr>
              <a:tr h="556591">
                <a:tc>
                  <a:txBody>
                    <a:bodyPr/>
                    <a:lstStyle/>
                    <a:p>
                      <a:pPr>
                        <a:lnSpc>
                          <a:spcPct val="107000"/>
                        </a:lnSpc>
                        <a:spcAft>
                          <a:spcPts val="0"/>
                        </a:spcAft>
                      </a:pPr>
                      <a:r>
                        <a:rPr lang="tr-TR" sz="1200">
                          <a:effectLst/>
                        </a:rPr>
                        <a:t>Gate Mechanism</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AGCRN, STGNN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dirty="0">
                          <a:effectLst/>
                        </a:rPr>
                        <a:t>Model hangi bilgiyi kullanacağını öğrenir</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86090479"/>
                  </a:ext>
                </a:extLst>
              </a:tr>
              <a:tr h="556591">
                <a:tc>
                  <a:txBody>
                    <a:bodyPr/>
                    <a:lstStyle/>
                    <a:p>
                      <a:pPr>
                        <a:lnSpc>
                          <a:spcPct val="107000"/>
                        </a:lnSpc>
                        <a:spcAft>
                          <a:spcPts val="0"/>
                        </a:spcAft>
                      </a:pPr>
                      <a:r>
                        <a:rPr lang="tr-TR" sz="1200">
                          <a:effectLst/>
                        </a:rPr>
                        <a:t>Attention Fusion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ASTGCN, DGCRN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dirty="0">
                          <a:effectLst/>
                        </a:rPr>
                        <a:t>Güçlü</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51442171"/>
                  </a:ext>
                </a:extLst>
              </a:tr>
              <a:tr h="556591">
                <a:tc>
                  <a:txBody>
                    <a:bodyPr/>
                    <a:lstStyle/>
                    <a:p>
                      <a:pPr>
                        <a:lnSpc>
                          <a:spcPct val="107000"/>
                        </a:lnSpc>
                        <a:spcAft>
                          <a:spcPts val="0"/>
                        </a:spcAft>
                      </a:pPr>
                      <a:r>
                        <a:rPr lang="tr-TR" sz="1200">
                          <a:effectLst/>
                        </a:rPr>
                        <a:t>Nested Fusion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a:effectLst/>
                        </a:rPr>
                        <a:t>STGCN, STFGNN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tr-TR" sz="1200" dirty="0">
                          <a:effectLst/>
                        </a:rPr>
                        <a:t>Katmanlar sırayla çalışır</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23616992"/>
                  </a:ext>
                </a:extLst>
              </a:tr>
            </a:tbl>
          </a:graphicData>
        </a:graphic>
      </p:graphicFrame>
    </p:spTree>
    <p:extLst>
      <p:ext uri="{BB962C8B-B14F-4D97-AF65-F5344CB8AC3E}">
        <p14:creationId xmlns:p14="http://schemas.microsoft.com/office/powerpoint/2010/main" val="38635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Spatio</a:t>
            </a:r>
            <a:r>
              <a:rPr lang="tr-TR" dirty="0"/>
              <a:t> GNN</a:t>
            </a:r>
          </a:p>
        </p:txBody>
      </p:sp>
      <p:sp>
        <p:nvSpPr>
          <p:cNvPr id="3" name="İçerik Yer Tutucusu 2"/>
          <p:cNvSpPr>
            <a:spLocks noGrp="1"/>
          </p:cNvSpPr>
          <p:nvPr>
            <p:ph idx="1"/>
          </p:nvPr>
        </p:nvSpPr>
        <p:spPr/>
        <p:txBody>
          <a:bodyPr>
            <a:normAutofit fontScale="55000" lnSpcReduction="20000"/>
          </a:bodyPr>
          <a:lstStyle/>
          <a:p>
            <a:pPr algn="just"/>
            <a:r>
              <a:rPr lang="tr-TR" sz="3600" dirty="0"/>
              <a:t>Son yıllarda </a:t>
            </a:r>
            <a:r>
              <a:rPr lang="tr-TR" sz="3600" dirty="0" err="1"/>
              <a:t>spatio-temporal</a:t>
            </a:r>
            <a:r>
              <a:rPr lang="tr-TR" sz="3600" dirty="0"/>
              <a:t> verilerin analizi, ulaşım ağlarından enerji sistemlerine, sosyal ağlardan çeşitli </a:t>
            </a:r>
            <a:r>
              <a:rPr lang="tr-TR" sz="3600" dirty="0" err="1"/>
              <a:t>sensör</a:t>
            </a:r>
            <a:r>
              <a:rPr lang="tr-TR" sz="3600" dirty="0"/>
              <a:t> ağlarına kadar birçok alanda ciddi bir önem kazanmıştır. </a:t>
            </a:r>
          </a:p>
          <a:p>
            <a:pPr algn="just"/>
            <a:r>
              <a:rPr lang="tr-TR" sz="3600" dirty="0"/>
              <a:t>Bu tür veriler hem </a:t>
            </a:r>
            <a:r>
              <a:rPr lang="tr-TR" sz="3600" dirty="0" err="1"/>
              <a:t>mekansal</a:t>
            </a:r>
            <a:r>
              <a:rPr lang="tr-TR" sz="3600" dirty="0"/>
              <a:t> ilişkiler hem de zamansal bağlılıklar içerdiğinden geleneksel makine öğrenmesi yöntemleri bu çok boyutlu yapıya adapte olabilmekte bazen yetersiz kalmaktadır.</a:t>
            </a:r>
          </a:p>
          <a:p>
            <a:pPr algn="just"/>
            <a:r>
              <a:rPr lang="tr-TR" sz="3600" b="1" dirty="0" err="1"/>
              <a:t>Spatio-Temporal</a:t>
            </a:r>
            <a:r>
              <a:rPr lang="tr-TR" sz="3600" b="1" dirty="0"/>
              <a:t> </a:t>
            </a:r>
            <a:r>
              <a:rPr lang="tr-TR" sz="3600" b="1" dirty="0" err="1"/>
              <a:t>Graph</a:t>
            </a:r>
            <a:r>
              <a:rPr lang="tr-TR" sz="3600" b="1" dirty="0"/>
              <a:t> </a:t>
            </a:r>
            <a:r>
              <a:rPr lang="tr-TR" sz="3600" b="1" dirty="0" err="1"/>
              <a:t>Neural</a:t>
            </a:r>
            <a:r>
              <a:rPr lang="tr-TR" sz="3600" b="1" dirty="0"/>
              <a:t> Network (STGNN)</a:t>
            </a:r>
            <a:r>
              <a:rPr lang="tr-TR" sz="3600" dirty="0"/>
              <a:t> modelleri, hem </a:t>
            </a:r>
            <a:r>
              <a:rPr lang="tr-TR" sz="3600" dirty="0" err="1"/>
              <a:t>graf</a:t>
            </a:r>
            <a:r>
              <a:rPr lang="tr-TR" sz="3600" dirty="0"/>
              <a:t> yapısının sağladığı topolojik bilgiyi hem de zaman boyutundaki ardışık bağımlılıkları bütünleştirerek bu karmaşık ilişkilerin öğrenilmesinde oldukça etkili bir yöntem olarak karşımıza çıkmaktadır.</a:t>
            </a:r>
          </a:p>
          <a:p>
            <a:pPr algn="just"/>
            <a:r>
              <a:rPr lang="tr-TR" sz="3600" dirty="0" err="1"/>
              <a:t>STGNN’ler</a:t>
            </a:r>
            <a:r>
              <a:rPr lang="tr-TR" sz="3600" dirty="0"/>
              <a:t>, </a:t>
            </a:r>
            <a:r>
              <a:rPr lang="tr-TR" sz="3600" dirty="0" err="1"/>
              <a:t>Graph</a:t>
            </a:r>
            <a:r>
              <a:rPr lang="tr-TR" sz="3600" dirty="0"/>
              <a:t> </a:t>
            </a:r>
            <a:r>
              <a:rPr lang="tr-TR" sz="3600" dirty="0" err="1"/>
              <a:t>Convolutional</a:t>
            </a:r>
            <a:r>
              <a:rPr lang="tr-TR" sz="3600" dirty="0"/>
              <a:t> Network (GCN) ve </a:t>
            </a:r>
            <a:r>
              <a:rPr lang="tr-TR" sz="3600" dirty="0" err="1"/>
              <a:t>Recurrent</a:t>
            </a:r>
            <a:r>
              <a:rPr lang="tr-TR" sz="3600" dirty="0"/>
              <a:t> </a:t>
            </a:r>
            <a:r>
              <a:rPr lang="tr-TR" sz="3600" dirty="0" err="1"/>
              <a:t>Neural</a:t>
            </a:r>
            <a:r>
              <a:rPr lang="tr-TR" sz="3600" dirty="0"/>
              <a:t> Network (RNN) yapılarını birleştiren ilk modellerden daha sonrasında geliştirilen </a:t>
            </a:r>
            <a:r>
              <a:rPr lang="tr-TR" sz="3600" dirty="0" err="1"/>
              <a:t>Graph</a:t>
            </a:r>
            <a:r>
              <a:rPr lang="tr-TR" sz="3600" dirty="0"/>
              <a:t> </a:t>
            </a:r>
            <a:r>
              <a:rPr lang="tr-TR" sz="3600" dirty="0" err="1"/>
              <a:t>Attention</a:t>
            </a:r>
            <a:r>
              <a:rPr lang="tr-TR" sz="3600" dirty="0"/>
              <a:t> Network (GAT), </a:t>
            </a:r>
            <a:r>
              <a:rPr lang="tr-TR" sz="3600" dirty="0" err="1"/>
              <a:t>Temporal</a:t>
            </a:r>
            <a:r>
              <a:rPr lang="tr-TR" sz="3600" dirty="0"/>
              <a:t> </a:t>
            </a:r>
            <a:r>
              <a:rPr lang="tr-TR" sz="3600" dirty="0" err="1"/>
              <a:t>Convolutional</a:t>
            </a:r>
            <a:r>
              <a:rPr lang="tr-TR" sz="3600" dirty="0"/>
              <a:t> Network (TCN) ve </a:t>
            </a:r>
            <a:r>
              <a:rPr lang="tr-TR" sz="3600" dirty="0" err="1"/>
              <a:t>Transformer</a:t>
            </a:r>
            <a:r>
              <a:rPr lang="tr-TR" sz="3600" dirty="0"/>
              <a:t> tabanlı </a:t>
            </a:r>
            <a:r>
              <a:rPr lang="tr-TR" sz="3600" dirty="0" err="1"/>
              <a:t>hibrit</a:t>
            </a:r>
            <a:r>
              <a:rPr lang="tr-TR" sz="3600" dirty="0"/>
              <a:t> mimarilere kadar geniş bir yelpazede evrimleşmiştir. </a:t>
            </a:r>
          </a:p>
          <a:p>
            <a:pPr algn="just"/>
            <a:r>
              <a:rPr lang="tr-TR" sz="3600" dirty="0"/>
              <a:t>Bu modeller, düğümler arasındaki etkileşimlerin zaman içinde nasıl değiştiğini modelleyerek, geleceğe yönelik tahmin, anomali tespiti veya davranış analizi gibi görevlerde yüksek başarımlar elde etmiştir. </a:t>
            </a:r>
          </a:p>
          <a:p>
            <a:pPr algn="just"/>
            <a:r>
              <a:rPr lang="tr-TR" sz="3600" dirty="0"/>
              <a:t>Özellikle trafik tahmini, hava kalitesi takibi ve sosyal ağ dinamiklerinin analizi gibi alanlarda, STGNN tabanlı yaklaşımlar oldukça dikkat çekmektedir.</a:t>
            </a:r>
            <a:br>
              <a:rPr lang="tr-TR" dirty="0"/>
            </a:br>
            <a:endParaRPr lang="tr-TR" dirty="0"/>
          </a:p>
          <a:p>
            <a:pPr algn="just"/>
            <a:endParaRPr lang="tr-TR" dirty="0"/>
          </a:p>
        </p:txBody>
      </p:sp>
    </p:spTree>
    <p:extLst>
      <p:ext uri="{BB962C8B-B14F-4D97-AF65-F5344CB8AC3E}">
        <p14:creationId xmlns:p14="http://schemas.microsoft.com/office/powerpoint/2010/main" val="1090973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F85F011-898F-85A7-CE81-C6242B76A162}"/>
              </a:ext>
            </a:extLst>
          </p:cNvPr>
          <p:cNvSpPr>
            <a:spLocks noGrp="1"/>
          </p:cNvSpPr>
          <p:nvPr>
            <p:ph type="title"/>
          </p:nvPr>
        </p:nvSpPr>
        <p:spPr/>
        <p:txBody>
          <a:bodyPr>
            <a:normAutofit/>
          </a:bodyPr>
          <a:lstStyle/>
          <a:p>
            <a:r>
              <a:rPr lang="tr-TR" dirty="0" err="1"/>
              <a:t>Spatio</a:t>
            </a:r>
            <a:r>
              <a:rPr lang="tr-TR" dirty="0"/>
              <a:t> GNN (Trafik Ağının Graf Temsili)</a:t>
            </a:r>
          </a:p>
        </p:txBody>
      </p:sp>
      <p:pic>
        <p:nvPicPr>
          <p:cNvPr id="5" name="İçerik Yer Tutucusu 4">
            <a:extLst>
              <a:ext uri="{FF2B5EF4-FFF2-40B4-BE49-F238E27FC236}">
                <a16:creationId xmlns:a16="http://schemas.microsoft.com/office/drawing/2014/main" id="{C7737343-15E3-D376-7BE4-8FB0CAF8EE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4728" y="2125695"/>
            <a:ext cx="7382543" cy="3563986"/>
          </a:xfrm>
        </p:spPr>
      </p:pic>
      <p:sp>
        <p:nvSpPr>
          <p:cNvPr id="6" name="Metin kutusu 5">
            <a:extLst>
              <a:ext uri="{FF2B5EF4-FFF2-40B4-BE49-F238E27FC236}">
                <a16:creationId xmlns:a16="http://schemas.microsoft.com/office/drawing/2014/main" id="{F5B30B0F-4A88-EFAA-498A-2AEBB8D9297A}"/>
              </a:ext>
            </a:extLst>
          </p:cNvPr>
          <p:cNvSpPr txBox="1"/>
          <p:nvPr/>
        </p:nvSpPr>
        <p:spPr>
          <a:xfrm>
            <a:off x="3485683" y="5550884"/>
            <a:ext cx="5220631" cy="923330"/>
          </a:xfrm>
          <a:prstGeom prst="rect">
            <a:avLst/>
          </a:prstGeom>
          <a:noFill/>
        </p:spPr>
        <p:txBody>
          <a:bodyPr wrap="square" rtlCol="0">
            <a:spAutoFit/>
          </a:bodyPr>
          <a:lstStyle/>
          <a:p>
            <a:r>
              <a:rPr lang="tr-TR" dirty="0"/>
              <a:t>Gerçek trafik sensör noktalarının düğüm (</a:t>
            </a:r>
            <a:r>
              <a:rPr lang="tr-TR" dirty="0" err="1"/>
              <a:t>node</a:t>
            </a:r>
            <a:r>
              <a:rPr lang="tr-TR" dirty="0"/>
              <a:t>) yolların ise bağlantı (</a:t>
            </a:r>
            <a:r>
              <a:rPr lang="tr-TR" dirty="0" err="1"/>
              <a:t>edge</a:t>
            </a:r>
            <a:r>
              <a:rPr lang="tr-TR" dirty="0"/>
              <a:t>) olarak modellenmesi</a:t>
            </a:r>
          </a:p>
          <a:p>
            <a:endParaRPr lang="tr-TR" dirty="0"/>
          </a:p>
        </p:txBody>
      </p:sp>
    </p:spTree>
    <p:extLst>
      <p:ext uri="{BB962C8B-B14F-4D97-AF65-F5344CB8AC3E}">
        <p14:creationId xmlns:p14="http://schemas.microsoft.com/office/powerpoint/2010/main" val="840531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Literatür Araştırması (Sunulacak Makaleler)</a:t>
            </a:r>
          </a:p>
        </p:txBody>
      </p:sp>
      <p:sp>
        <p:nvSpPr>
          <p:cNvPr id="3" name="İçerik Yer Tutucusu 2"/>
          <p:cNvSpPr>
            <a:spLocks noGrp="1"/>
          </p:cNvSpPr>
          <p:nvPr>
            <p:ph idx="1"/>
          </p:nvPr>
        </p:nvSpPr>
        <p:spPr/>
        <p:txBody>
          <a:bodyPr>
            <a:normAutofit fontScale="70000" lnSpcReduction="20000"/>
          </a:bodyPr>
          <a:lstStyle/>
          <a:p>
            <a:pPr algn="just"/>
            <a:r>
              <a:rPr lang="tr-TR" b="1" dirty="0"/>
              <a:t>1. </a:t>
            </a:r>
            <a:r>
              <a:rPr lang="en-US" b="1" dirty="0"/>
              <a:t>A Graph Neural Network (GNN)-Based Approach for Real-Time Estimation of Traffic Speed in Sustainable Smart Cities</a:t>
            </a:r>
            <a:endParaRPr lang="tr-TR" b="1" dirty="0"/>
          </a:p>
          <a:p>
            <a:pPr algn="just"/>
            <a:r>
              <a:rPr lang="tr-TR" b="1" dirty="0"/>
              <a:t>2. </a:t>
            </a:r>
            <a:r>
              <a:rPr lang="en-US" b="1" dirty="0"/>
              <a:t>Bi-GRCN: A </a:t>
            </a:r>
            <a:r>
              <a:rPr lang="en-US" b="1" dirty="0" err="1"/>
              <a:t>Spatio</a:t>
            </a:r>
            <a:r>
              <a:rPr lang="en-US" b="1" dirty="0"/>
              <a:t>-Temporal Traffic Flow Prediction Model Based on Graph Neural Network</a:t>
            </a:r>
            <a:endParaRPr lang="tr-TR" b="1" dirty="0"/>
          </a:p>
          <a:p>
            <a:pPr algn="just"/>
            <a:r>
              <a:rPr lang="tr-TR" b="1" dirty="0"/>
              <a:t>3. </a:t>
            </a:r>
            <a:r>
              <a:rPr lang="en-US" b="1" dirty="0"/>
              <a:t>AST-GNN: An attention-based </a:t>
            </a:r>
            <a:r>
              <a:rPr lang="en-US" b="1" dirty="0" err="1"/>
              <a:t>spatio</a:t>
            </a:r>
            <a:r>
              <a:rPr lang="en-US" b="1" dirty="0"/>
              <a:t>-temporal graph neural network for Interaction-aware pedestrian trajectory prediction</a:t>
            </a:r>
            <a:endParaRPr lang="tr-TR" b="1" dirty="0"/>
          </a:p>
          <a:p>
            <a:pPr algn="just"/>
            <a:r>
              <a:rPr lang="tr-TR" b="1" dirty="0"/>
              <a:t>4. </a:t>
            </a:r>
            <a:r>
              <a:rPr lang="en-US" b="1" dirty="0"/>
              <a:t>Semi-decentralized Training of </a:t>
            </a:r>
            <a:r>
              <a:rPr lang="en-US" b="1" dirty="0" err="1"/>
              <a:t>Spatio</a:t>
            </a:r>
            <a:r>
              <a:rPr lang="en-US" b="1" dirty="0"/>
              <a:t>-Temporal Graph Neural Networks for Traffic Prediction</a:t>
            </a:r>
            <a:endParaRPr lang="tr-TR" b="1" dirty="0"/>
          </a:p>
          <a:p>
            <a:pPr algn="just"/>
            <a:r>
              <a:rPr lang="tr-TR" b="1" dirty="0"/>
              <a:t>5. </a:t>
            </a:r>
            <a:r>
              <a:rPr lang="en-US" b="1" dirty="0"/>
              <a:t>STGC-GNNs: A GNN-based traffic prediction framework with a spatial–temporal Granger causality graph</a:t>
            </a:r>
            <a:endParaRPr lang="tr-TR" b="1" dirty="0"/>
          </a:p>
          <a:p>
            <a:pPr algn="just"/>
            <a:r>
              <a:rPr lang="tr-TR" b="1" dirty="0"/>
              <a:t>6. </a:t>
            </a:r>
            <a:r>
              <a:rPr lang="en-US" b="1" dirty="0"/>
              <a:t>A heterogeneous traffic </a:t>
            </a:r>
            <a:r>
              <a:rPr lang="en-US" b="1" dirty="0" err="1"/>
              <a:t>spatio</a:t>
            </a:r>
            <a:r>
              <a:rPr lang="en-US" b="1" dirty="0"/>
              <a:t>-temporal graph convolution model for traffic prediction</a:t>
            </a:r>
            <a:endParaRPr lang="tr-TR" b="1" dirty="0"/>
          </a:p>
          <a:p>
            <a:pPr algn="just"/>
            <a:r>
              <a:rPr lang="tr-TR" b="1" dirty="0"/>
              <a:t>7. </a:t>
            </a:r>
            <a:r>
              <a:rPr lang="en-US" b="1" dirty="0" err="1"/>
              <a:t>Spatio</a:t>
            </a:r>
            <a:r>
              <a:rPr lang="en-US" b="1" dirty="0"/>
              <a:t>-Temporal Pivotal Graph Neural Networks for Traffic Flow Forecasting</a:t>
            </a:r>
            <a:endParaRPr lang="tr-TR" b="1" dirty="0"/>
          </a:p>
          <a:p>
            <a:pPr algn="just"/>
            <a:r>
              <a:rPr lang="tr-TR" b="1" dirty="0"/>
              <a:t>8. </a:t>
            </a:r>
            <a:r>
              <a:rPr lang="en-US" b="1" dirty="0"/>
              <a:t>Spatiotemporal Factorized Graph Neural Networks for Joint Large-Scale Traffic Prediction and Online Pattern Recognition</a:t>
            </a:r>
            <a:endParaRPr lang="tr-TR" b="1" dirty="0"/>
          </a:p>
          <a:p>
            <a:pPr algn="just"/>
            <a:r>
              <a:rPr lang="tr-TR" b="1" dirty="0"/>
              <a:t>9. </a:t>
            </a:r>
            <a:r>
              <a:rPr lang="en-US" b="1" dirty="0"/>
              <a:t>Multi-factor embedding GNN-based traffic flow prediction considering intersection similarity</a:t>
            </a:r>
            <a:endParaRPr lang="tr-TR" b="1" dirty="0"/>
          </a:p>
          <a:p>
            <a:pPr algn="just"/>
            <a:r>
              <a:rPr lang="tr-TR" b="1" dirty="0"/>
              <a:t>10. </a:t>
            </a:r>
            <a:r>
              <a:rPr lang="en-US" b="1" dirty="0"/>
              <a:t>Adaptive </a:t>
            </a:r>
            <a:r>
              <a:rPr lang="en-US" b="1" dirty="0" err="1"/>
              <a:t>spatio</a:t>
            </a:r>
            <a:r>
              <a:rPr lang="en-US" b="1" dirty="0"/>
              <a:t>-temporal graph neural network for traffic forecasting</a:t>
            </a:r>
            <a:endParaRPr lang="tr-TR" b="1" dirty="0"/>
          </a:p>
          <a:p>
            <a:pPr algn="just"/>
            <a:endParaRPr lang="tr-TR" dirty="0"/>
          </a:p>
        </p:txBody>
      </p:sp>
    </p:spTree>
    <p:extLst>
      <p:ext uri="{BB962C8B-B14F-4D97-AF65-F5344CB8AC3E}">
        <p14:creationId xmlns:p14="http://schemas.microsoft.com/office/powerpoint/2010/main" val="1625629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Autofit/>
          </a:bodyPr>
          <a:lstStyle/>
          <a:p>
            <a:r>
              <a:rPr lang="tr-TR" sz="3200" b="1" dirty="0"/>
              <a:t>1. </a:t>
            </a:r>
            <a:r>
              <a:rPr lang="en-US" sz="3200" b="1" dirty="0"/>
              <a:t>A Graph Neural Network (GNN)-Based Approach for Real-Time Estimation of Traffic Speed in Sustainable Smart Cities</a:t>
            </a:r>
            <a:endParaRPr lang="tr-TR" sz="3200" b="1" dirty="0"/>
          </a:p>
        </p:txBody>
      </p:sp>
      <p:sp>
        <p:nvSpPr>
          <p:cNvPr id="3" name="İçerik Yer Tutucusu 2"/>
          <p:cNvSpPr>
            <a:spLocks noGrp="1"/>
          </p:cNvSpPr>
          <p:nvPr>
            <p:ph idx="1"/>
          </p:nvPr>
        </p:nvSpPr>
        <p:spPr/>
        <p:txBody>
          <a:bodyPr>
            <a:normAutofit lnSpcReduction="10000"/>
          </a:bodyPr>
          <a:lstStyle/>
          <a:p>
            <a:pPr algn="just"/>
            <a:r>
              <a:rPr lang="tr-TR" dirty="0"/>
              <a:t>Bu çalışmada, gerçek zamanlı trafik hızı tahmini için STGGAN adı verilen önerilen yaklaşımı, iki farklı gerçek trafik veri kümesi olan PeMSD4 ve PeMSD8'i kullanarak uygulanmıştır.</a:t>
            </a:r>
          </a:p>
          <a:p>
            <a:pPr algn="just"/>
            <a:r>
              <a:rPr lang="tr-TR" dirty="0"/>
              <a:t>Bu yöntemde, yol ağından alınan veriler kullanılarak trafik akışını doğru bir şekilde tahmin etmek için bir sinir ağı eğitilmektedir.</a:t>
            </a:r>
          </a:p>
          <a:p>
            <a:pPr algn="just"/>
            <a:r>
              <a:rPr lang="tr-TR" dirty="0"/>
              <a:t>Trafik akışı ve trafik hızı sonuçları elde edilmiştir.</a:t>
            </a:r>
          </a:p>
          <a:p>
            <a:pPr algn="just"/>
            <a:r>
              <a:rPr lang="tr-TR" dirty="0"/>
              <a:t>Zaman serisi verileri için </a:t>
            </a:r>
            <a:r>
              <a:rPr lang="tr-TR" dirty="0" err="1"/>
              <a:t>GRU’dan</a:t>
            </a:r>
            <a:r>
              <a:rPr lang="tr-TR" dirty="0"/>
              <a:t> yararlanılmıştır.</a:t>
            </a:r>
          </a:p>
          <a:p>
            <a:pPr algn="just"/>
            <a:r>
              <a:rPr lang="tr-TR" dirty="0"/>
              <a:t>Deneysel sonuçlarda, PeMSD4 ve PeMSD8 veri kümeleri için sırasıyla %96,67 ve %98,75 doğruluk oranları elde edilmiştir.</a:t>
            </a:r>
          </a:p>
          <a:p>
            <a:pPr algn="just"/>
            <a:r>
              <a:rPr lang="tr-TR" dirty="0"/>
              <a:t>MAE, MAPE, RMSE değerleri de farklı testler sonucu elde edilmiştir.</a:t>
            </a:r>
          </a:p>
        </p:txBody>
      </p:sp>
    </p:spTree>
    <p:extLst>
      <p:ext uri="{BB962C8B-B14F-4D97-AF65-F5344CB8AC3E}">
        <p14:creationId xmlns:p14="http://schemas.microsoft.com/office/powerpoint/2010/main" val="167941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DE9E153-FE6A-6D1F-9A9F-EB474EC046A3}"/>
              </a:ext>
            </a:extLst>
          </p:cNvPr>
          <p:cNvSpPr>
            <a:spLocks noGrp="1"/>
          </p:cNvSpPr>
          <p:nvPr>
            <p:ph type="title"/>
          </p:nvPr>
        </p:nvSpPr>
        <p:spPr/>
        <p:txBody>
          <a:bodyPr>
            <a:noAutofit/>
          </a:bodyPr>
          <a:lstStyle/>
          <a:p>
            <a:r>
              <a:rPr lang="tr-TR" sz="3200" b="1" dirty="0"/>
              <a:t>1. </a:t>
            </a:r>
            <a:r>
              <a:rPr lang="en-US" sz="3200" b="1" dirty="0"/>
              <a:t>A Graph Neural Network (GNN)-Based Approach for Real-Time Estimation of Traffic Speed in Sustainable Smart Cities</a:t>
            </a:r>
            <a:endParaRPr lang="tr-TR" sz="3200" dirty="0"/>
          </a:p>
        </p:txBody>
      </p:sp>
      <p:pic>
        <p:nvPicPr>
          <p:cNvPr id="7" name="İçerik Yer Tutucusu 6">
            <a:extLst>
              <a:ext uri="{FF2B5EF4-FFF2-40B4-BE49-F238E27FC236}">
                <a16:creationId xmlns:a16="http://schemas.microsoft.com/office/drawing/2014/main" id="{F7499425-5839-4F97-29CD-C59547A213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0692" y="2610036"/>
            <a:ext cx="7710616" cy="2195242"/>
          </a:xfrm>
        </p:spPr>
      </p:pic>
    </p:spTree>
    <p:extLst>
      <p:ext uri="{BB962C8B-B14F-4D97-AF65-F5344CB8AC3E}">
        <p14:creationId xmlns:p14="http://schemas.microsoft.com/office/powerpoint/2010/main" val="770345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A9BBD10-DFC8-1B88-4897-F38A94615722}"/>
              </a:ext>
            </a:extLst>
          </p:cNvPr>
          <p:cNvSpPr>
            <a:spLocks noGrp="1"/>
          </p:cNvSpPr>
          <p:nvPr>
            <p:ph type="title"/>
          </p:nvPr>
        </p:nvSpPr>
        <p:spPr/>
        <p:txBody>
          <a:bodyPr>
            <a:noAutofit/>
          </a:bodyPr>
          <a:lstStyle/>
          <a:p>
            <a:r>
              <a:rPr lang="tr-TR" sz="3200" b="1" dirty="0"/>
              <a:t>1. </a:t>
            </a:r>
            <a:r>
              <a:rPr lang="en-US" sz="3200" b="1" dirty="0"/>
              <a:t>A Graph Neural Network (GNN)-Based Approach for Real-Time Estimation of Traffic Speed in Sustainable Smart Cities</a:t>
            </a:r>
            <a:endParaRPr lang="tr-TR" sz="3200" dirty="0"/>
          </a:p>
        </p:txBody>
      </p:sp>
      <p:pic>
        <p:nvPicPr>
          <p:cNvPr id="5" name="İçerik Yer Tutucusu 4">
            <a:extLst>
              <a:ext uri="{FF2B5EF4-FFF2-40B4-BE49-F238E27FC236}">
                <a16:creationId xmlns:a16="http://schemas.microsoft.com/office/drawing/2014/main" id="{F73ED5ED-47D9-E40A-362E-E9CBFA48D2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03500" y="1835944"/>
            <a:ext cx="6985000" cy="4330700"/>
          </a:xfrm>
        </p:spPr>
      </p:pic>
    </p:spTree>
    <p:extLst>
      <p:ext uri="{BB962C8B-B14F-4D97-AF65-F5344CB8AC3E}">
        <p14:creationId xmlns:p14="http://schemas.microsoft.com/office/powerpoint/2010/main" val="2792513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2. </a:t>
            </a:r>
            <a:r>
              <a:rPr lang="en-US" sz="3200" b="1" dirty="0"/>
              <a:t>Bi-GRCN: A </a:t>
            </a:r>
            <a:r>
              <a:rPr lang="en-US" sz="3200" b="1" dirty="0" err="1"/>
              <a:t>Spatio</a:t>
            </a:r>
            <a:r>
              <a:rPr lang="en-US" sz="3200" b="1" dirty="0"/>
              <a:t>-Temporal Traffic Flow Prediction Model Based on Graph Neural Network</a:t>
            </a:r>
            <a:endParaRPr lang="tr-TR" sz="3200" b="1" dirty="0"/>
          </a:p>
        </p:txBody>
      </p:sp>
      <p:sp>
        <p:nvSpPr>
          <p:cNvPr id="3" name="İçerik Yer Tutucusu 2"/>
          <p:cNvSpPr>
            <a:spLocks noGrp="1"/>
          </p:cNvSpPr>
          <p:nvPr>
            <p:ph idx="1"/>
          </p:nvPr>
        </p:nvSpPr>
        <p:spPr/>
        <p:txBody>
          <a:bodyPr>
            <a:normAutofit fontScale="92500" lnSpcReduction="20000"/>
          </a:bodyPr>
          <a:lstStyle/>
          <a:p>
            <a:pPr algn="just"/>
            <a:r>
              <a:rPr lang="tr-TR" dirty="0"/>
              <a:t>Bu makalede, GNN tabanlı yeni bir </a:t>
            </a:r>
            <a:r>
              <a:rPr lang="tr-TR" dirty="0" err="1"/>
              <a:t>mekansal</a:t>
            </a:r>
            <a:r>
              <a:rPr lang="tr-TR" dirty="0"/>
              <a:t>-zamansal trafik akışı tahmin modeli olan Çift Yönlü Graf Tekrarlamalı </a:t>
            </a:r>
            <a:r>
              <a:rPr lang="tr-TR" dirty="0" err="1"/>
              <a:t>Evrişimli</a:t>
            </a:r>
            <a:r>
              <a:rPr lang="tr-TR" dirty="0"/>
              <a:t> Ağ (</a:t>
            </a:r>
            <a:r>
              <a:rPr lang="tr-TR" dirty="0" err="1"/>
              <a:t>Bi</a:t>
            </a:r>
            <a:r>
              <a:rPr lang="tr-TR" dirty="0"/>
              <a:t>-GRCN) önermektedir.</a:t>
            </a:r>
          </a:p>
          <a:p>
            <a:pPr algn="just"/>
            <a:r>
              <a:rPr lang="tr-TR" dirty="0"/>
              <a:t>Önceki ve sonraki verileri aynı anda işlemek üzere </a:t>
            </a:r>
            <a:r>
              <a:rPr lang="tr-TR" dirty="0" err="1"/>
              <a:t>Bi</a:t>
            </a:r>
            <a:r>
              <a:rPr lang="tr-TR" dirty="0"/>
              <a:t>-GRU kullanılmaktadır.</a:t>
            </a:r>
          </a:p>
          <a:p>
            <a:pPr algn="just"/>
            <a:r>
              <a:rPr lang="tr-TR" dirty="0"/>
              <a:t>Tam bağlantı katmanı, çıkarılan uzamsal özellikleri ve öğrenilen zamansal özellikleri birleştirerek tahmin sonuçlarını optimize etmektedir.</a:t>
            </a:r>
          </a:p>
          <a:p>
            <a:pPr algn="just"/>
            <a:r>
              <a:rPr lang="tr-TR" dirty="0"/>
              <a:t>Böylece </a:t>
            </a:r>
            <a:r>
              <a:rPr lang="tr-TR" dirty="0" err="1"/>
              <a:t>Bi</a:t>
            </a:r>
            <a:r>
              <a:rPr lang="tr-TR" dirty="0"/>
              <a:t>-GRCN modeli trafik akış verilerinin uzamsal bağımlılığı ve zamansal korelasyonu iyileştirilmektedir.</a:t>
            </a:r>
          </a:p>
          <a:p>
            <a:pPr algn="just"/>
            <a:r>
              <a:rPr lang="tr-TR" dirty="0"/>
              <a:t>RMSE, MAE metrikleri hesaplanarak çeşitli modellerle kıyaslanmıştır.</a:t>
            </a:r>
          </a:p>
          <a:p>
            <a:pPr algn="just"/>
            <a:r>
              <a:rPr lang="tr-TR" dirty="0"/>
              <a:t>Deneysel sonuçlarda, modelin kısa vadeli trafik akışını etkili bir şekilde tahmin etmekle kalmayıp orta ve uzun vadeli trafik akışı tahmininde de iyi bir tahmin etkisi elde edebildiğini gösterilmiştir.</a:t>
            </a:r>
          </a:p>
        </p:txBody>
      </p:sp>
    </p:spTree>
    <p:extLst>
      <p:ext uri="{BB962C8B-B14F-4D97-AF65-F5344CB8AC3E}">
        <p14:creationId xmlns:p14="http://schemas.microsoft.com/office/powerpoint/2010/main" val="1157327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5DF323A-A6B3-5DE1-DD25-E92324E9C251}"/>
              </a:ext>
            </a:extLst>
          </p:cNvPr>
          <p:cNvSpPr>
            <a:spLocks noGrp="1"/>
          </p:cNvSpPr>
          <p:nvPr>
            <p:ph type="title"/>
          </p:nvPr>
        </p:nvSpPr>
        <p:spPr/>
        <p:txBody>
          <a:bodyPr>
            <a:normAutofit/>
          </a:bodyPr>
          <a:lstStyle/>
          <a:p>
            <a:r>
              <a:rPr lang="tr-TR" sz="3200" b="1" dirty="0"/>
              <a:t>2. </a:t>
            </a:r>
            <a:r>
              <a:rPr lang="en-US" sz="3200" b="1" dirty="0"/>
              <a:t>Bi-GRCN: A </a:t>
            </a:r>
            <a:r>
              <a:rPr lang="en-US" sz="3200" b="1" dirty="0" err="1"/>
              <a:t>Spatio</a:t>
            </a:r>
            <a:r>
              <a:rPr lang="en-US" sz="3200" b="1" dirty="0"/>
              <a:t>-Temporal Traffic Flow Prediction Model Based on Graph Neural Network</a:t>
            </a:r>
            <a:endParaRPr lang="tr-TR" sz="3200" dirty="0"/>
          </a:p>
        </p:txBody>
      </p:sp>
      <p:pic>
        <p:nvPicPr>
          <p:cNvPr id="5" name="İçerik Yer Tutucusu 4">
            <a:extLst>
              <a:ext uri="{FF2B5EF4-FFF2-40B4-BE49-F238E27FC236}">
                <a16:creationId xmlns:a16="http://schemas.microsoft.com/office/drawing/2014/main" id="{E87778CE-7CB7-02C6-5BB9-C03205D776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8478" y="1873188"/>
            <a:ext cx="7623592" cy="4040503"/>
          </a:xfrm>
        </p:spPr>
      </p:pic>
    </p:spTree>
    <p:extLst>
      <p:ext uri="{BB962C8B-B14F-4D97-AF65-F5344CB8AC3E}">
        <p14:creationId xmlns:p14="http://schemas.microsoft.com/office/powerpoint/2010/main" val="1692836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Autofit/>
          </a:bodyPr>
          <a:lstStyle/>
          <a:p>
            <a:r>
              <a:rPr lang="tr-TR" sz="3200" b="1" dirty="0"/>
              <a:t>3. </a:t>
            </a:r>
            <a:r>
              <a:rPr lang="en-US" sz="3200" b="1" dirty="0"/>
              <a:t>AST-GNN: An attention-based </a:t>
            </a:r>
            <a:r>
              <a:rPr lang="en-US" sz="3200" b="1" dirty="0" err="1"/>
              <a:t>spatio</a:t>
            </a:r>
            <a:r>
              <a:rPr lang="en-US" sz="3200" b="1" dirty="0"/>
              <a:t>-temporal graph neural network for Interaction-aware pedestrian trajectory prediction</a:t>
            </a:r>
            <a:endParaRPr lang="tr-TR" sz="3200" b="1" dirty="0"/>
          </a:p>
        </p:txBody>
      </p:sp>
      <p:sp>
        <p:nvSpPr>
          <p:cNvPr id="3" name="İçerik Yer Tutucusu 2"/>
          <p:cNvSpPr>
            <a:spLocks noGrp="1"/>
          </p:cNvSpPr>
          <p:nvPr>
            <p:ph idx="1"/>
          </p:nvPr>
        </p:nvSpPr>
        <p:spPr/>
        <p:txBody>
          <a:bodyPr>
            <a:normAutofit lnSpcReduction="10000"/>
          </a:bodyPr>
          <a:lstStyle/>
          <a:p>
            <a:pPr algn="just"/>
            <a:r>
              <a:rPr lang="tr-TR" dirty="0"/>
              <a:t>Bu çalışmada yayalar için bir hareket modeli çıkarımı çalışması gerçekleştirilmiştir.</a:t>
            </a:r>
          </a:p>
          <a:p>
            <a:pPr algn="just"/>
            <a:r>
              <a:rPr lang="tr-TR" dirty="0"/>
              <a:t>Yöntem olarak GNN ve </a:t>
            </a:r>
            <a:r>
              <a:rPr lang="tr-TR" dirty="0" err="1"/>
              <a:t>Attention</a:t>
            </a:r>
            <a:r>
              <a:rPr lang="tr-TR" dirty="0"/>
              <a:t> mekanizması ve Time-</a:t>
            </a:r>
            <a:r>
              <a:rPr lang="tr-TR" dirty="0" err="1"/>
              <a:t>extrapolator</a:t>
            </a:r>
            <a:r>
              <a:rPr lang="tr-TR" dirty="0"/>
              <a:t> CNN kullanılmıştır.</a:t>
            </a:r>
          </a:p>
          <a:p>
            <a:pPr algn="just"/>
            <a:r>
              <a:rPr lang="tr-TR" dirty="0"/>
              <a:t>Time-</a:t>
            </a:r>
            <a:r>
              <a:rPr lang="tr-TR" dirty="0" err="1"/>
              <a:t>extrapolator</a:t>
            </a:r>
            <a:r>
              <a:rPr lang="tr-TR" dirty="0"/>
              <a:t> CNN yeniden şekillendirme aşamasında </a:t>
            </a:r>
            <a:r>
              <a:rPr lang="tr-TR" dirty="0" err="1"/>
              <a:t>decode</a:t>
            </a:r>
            <a:r>
              <a:rPr lang="tr-TR" dirty="0"/>
              <a:t> kısmında kullanılmıştır.</a:t>
            </a:r>
          </a:p>
          <a:p>
            <a:pPr algn="just"/>
            <a:r>
              <a:rPr lang="tr-TR" dirty="0"/>
              <a:t>Veri seti olarak ETH, HOTEL, UNIV, ZARA1, ZARA2, AVG kullanılmıştır. </a:t>
            </a:r>
          </a:p>
          <a:p>
            <a:pPr algn="just"/>
            <a:r>
              <a:rPr lang="tr-TR" dirty="0"/>
              <a:t>Çeşitli algoritmalarla yapılan karşılaştırmalarda deneysel sonuçlar ASTGNN algoritmasının ZARA2 veri seti ile 0,28/0,45 ADE/FDE değerleri ile en iyi sonuçları verdiğini göstermiştir.</a:t>
            </a:r>
          </a:p>
        </p:txBody>
      </p:sp>
    </p:spTree>
    <p:extLst>
      <p:ext uri="{BB962C8B-B14F-4D97-AF65-F5344CB8AC3E}">
        <p14:creationId xmlns:p14="http://schemas.microsoft.com/office/powerpoint/2010/main" val="4247543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5390C5-234E-F28A-574A-8624E4B341BF}"/>
              </a:ext>
            </a:extLst>
          </p:cNvPr>
          <p:cNvSpPr>
            <a:spLocks noGrp="1"/>
          </p:cNvSpPr>
          <p:nvPr>
            <p:ph type="title"/>
          </p:nvPr>
        </p:nvSpPr>
        <p:spPr/>
        <p:txBody>
          <a:bodyPr>
            <a:noAutofit/>
          </a:bodyPr>
          <a:lstStyle/>
          <a:p>
            <a:r>
              <a:rPr lang="tr-TR" sz="3200" b="1" dirty="0"/>
              <a:t>3. </a:t>
            </a:r>
            <a:r>
              <a:rPr lang="en-US" sz="3200" b="1" dirty="0"/>
              <a:t>AST-GNN: An attention-based </a:t>
            </a:r>
            <a:r>
              <a:rPr lang="en-US" sz="3200" b="1" dirty="0" err="1"/>
              <a:t>spatio</a:t>
            </a:r>
            <a:r>
              <a:rPr lang="en-US" sz="3200" b="1" dirty="0"/>
              <a:t>-temporal graph neural network for Interaction-aware pedestrian trajectory prediction</a:t>
            </a:r>
            <a:endParaRPr lang="tr-TR" sz="3200" dirty="0"/>
          </a:p>
        </p:txBody>
      </p:sp>
      <p:pic>
        <p:nvPicPr>
          <p:cNvPr id="5" name="İçerik Yer Tutucusu 4">
            <a:extLst>
              <a:ext uri="{FF2B5EF4-FFF2-40B4-BE49-F238E27FC236}">
                <a16:creationId xmlns:a16="http://schemas.microsoft.com/office/drawing/2014/main" id="{8401B01A-D799-90E8-2BA7-E46AE97A15E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84135" y="1811046"/>
            <a:ext cx="8623730" cy="4254654"/>
          </a:xfrm>
        </p:spPr>
      </p:pic>
    </p:spTree>
    <p:extLst>
      <p:ext uri="{BB962C8B-B14F-4D97-AF65-F5344CB8AC3E}">
        <p14:creationId xmlns:p14="http://schemas.microsoft.com/office/powerpoint/2010/main" val="2067532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498857-D9D1-C8F0-A5FA-8BCB970D03F8}"/>
              </a:ext>
            </a:extLst>
          </p:cNvPr>
          <p:cNvSpPr>
            <a:spLocks noGrp="1"/>
          </p:cNvSpPr>
          <p:nvPr>
            <p:ph type="title"/>
          </p:nvPr>
        </p:nvSpPr>
        <p:spPr/>
        <p:txBody>
          <a:bodyPr>
            <a:noAutofit/>
          </a:bodyPr>
          <a:lstStyle/>
          <a:p>
            <a:r>
              <a:rPr lang="tr-TR" sz="3200" b="1" dirty="0"/>
              <a:t>3. </a:t>
            </a:r>
            <a:r>
              <a:rPr lang="en-US" sz="3200" b="1" dirty="0"/>
              <a:t>AST-GNN: An attention-based </a:t>
            </a:r>
            <a:r>
              <a:rPr lang="en-US" sz="3200" b="1" dirty="0" err="1"/>
              <a:t>spatio</a:t>
            </a:r>
            <a:r>
              <a:rPr lang="en-US" sz="3200" b="1" dirty="0"/>
              <a:t>-temporal graph neural network for Interaction-aware pedestrian trajectory prediction</a:t>
            </a:r>
            <a:endParaRPr lang="tr-TR" sz="3200" dirty="0"/>
          </a:p>
        </p:txBody>
      </p:sp>
      <p:pic>
        <p:nvPicPr>
          <p:cNvPr id="5" name="İçerik Yer Tutucusu 4">
            <a:extLst>
              <a:ext uri="{FF2B5EF4-FFF2-40B4-BE49-F238E27FC236}">
                <a16:creationId xmlns:a16="http://schemas.microsoft.com/office/drawing/2014/main" id="{95ED4328-FD4F-AC29-7BCA-80E62606C9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5077" y="1870461"/>
            <a:ext cx="9821845" cy="4169168"/>
          </a:xfrm>
        </p:spPr>
      </p:pic>
    </p:spTree>
    <p:extLst>
      <p:ext uri="{BB962C8B-B14F-4D97-AF65-F5344CB8AC3E}">
        <p14:creationId xmlns:p14="http://schemas.microsoft.com/office/powerpoint/2010/main" val="3705602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4. </a:t>
            </a:r>
            <a:r>
              <a:rPr lang="en-US" sz="3200" b="1" dirty="0"/>
              <a:t>Semi-decentralized Training of </a:t>
            </a:r>
            <a:r>
              <a:rPr lang="en-US" sz="3200" b="1" dirty="0" err="1"/>
              <a:t>Spatio</a:t>
            </a:r>
            <a:r>
              <a:rPr lang="en-US" sz="3200" b="1" dirty="0"/>
              <a:t>-Temporal Graph Neural Networks for Traffic Prediction</a:t>
            </a:r>
            <a:endParaRPr lang="tr-TR" sz="3200" b="1" dirty="0"/>
          </a:p>
        </p:txBody>
      </p:sp>
      <p:sp>
        <p:nvSpPr>
          <p:cNvPr id="3" name="İçerik Yer Tutucusu 2"/>
          <p:cNvSpPr>
            <a:spLocks noGrp="1"/>
          </p:cNvSpPr>
          <p:nvPr>
            <p:ph idx="1"/>
          </p:nvPr>
        </p:nvSpPr>
        <p:spPr/>
        <p:txBody>
          <a:bodyPr>
            <a:normAutofit lnSpcReduction="10000"/>
          </a:bodyPr>
          <a:lstStyle/>
          <a:p>
            <a:pPr algn="just"/>
            <a:r>
              <a:rPr lang="tr-TR" dirty="0"/>
              <a:t>Bu çalışmada, farklı setup’lar için sensörlerle toplanan verilerden trafik hız tahmini uygulaması gerçekleştirilmiştir.</a:t>
            </a:r>
          </a:p>
          <a:p>
            <a:pPr algn="just"/>
            <a:r>
              <a:rPr lang="tr-TR" dirty="0"/>
              <a:t>15, 30 ve 60 dakikalık gözlemleri içeren sonuçlar elde edilmiştir.</a:t>
            </a:r>
          </a:p>
          <a:p>
            <a:pPr algn="just"/>
            <a:r>
              <a:rPr lang="tr-TR" dirty="0"/>
              <a:t>ST-GNN ile gerçekleştirilen çalışmada setup olarak </a:t>
            </a:r>
            <a:r>
              <a:rPr lang="tr-TR" dirty="0" err="1"/>
              <a:t>Centralized</a:t>
            </a:r>
            <a:r>
              <a:rPr lang="tr-TR" dirty="0"/>
              <a:t>, </a:t>
            </a:r>
            <a:r>
              <a:rPr lang="tr-TR" dirty="0" err="1"/>
              <a:t>Traditional</a:t>
            </a:r>
            <a:r>
              <a:rPr lang="tr-TR" dirty="0"/>
              <a:t> FL, Server-</a:t>
            </a:r>
            <a:r>
              <a:rPr lang="tr-TR" dirty="0" err="1"/>
              <a:t>free</a:t>
            </a:r>
            <a:r>
              <a:rPr lang="tr-TR" dirty="0"/>
              <a:t> FL, </a:t>
            </a:r>
            <a:r>
              <a:rPr lang="tr-TR" dirty="0" err="1"/>
              <a:t>and</a:t>
            </a:r>
            <a:r>
              <a:rPr lang="tr-TR" dirty="0"/>
              <a:t> </a:t>
            </a:r>
            <a:r>
              <a:rPr lang="tr-TR" dirty="0" err="1"/>
              <a:t>Gossip</a:t>
            </a:r>
            <a:r>
              <a:rPr lang="tr-TR" dirty="0"/>
              <a:t> Learning kullanılmıştır.</a:t>
            </a:r>
          </a:p>
          <a:p>
            <a:pPr algn="just"/>
            <a:r>
              <a:rPr lang="tr-TR" dirty="0"/>
              <a:t>Veri seti olarak METR-LA ve </a:t>
            </a:r>
            <a:r>
              <a:rPr lang="tr-TR" dirty="0" err="1"/>
              <a:t>PeMS</a:t>
            </a:r>
            <a:r>
              <a:rPr lang="tr-TR" dirty="0"/>
              <a:t>-BAY kullanılmıştır.</a:t>
            </a:r>
          </a:p>
          <a:p>
            <a:pPr algn="just"/>
            <a:r>
              <a:rPr lang="tr-TR" dirty="0"/>
              <a:t>Elde edilen metrikler MAE,RMSE </a:t>
            </a:r>
            <a:r>
              <a:rPr lang="tr-TR" dirty="0" err="1"/>
              <a:t>WMAPE’dir</a:t>
            </a:r>
            <a:r>
              <a:rPr lang="tr-TR" dirty="0"/>
              <a:t>.</a:t>
            </a:r>
          </a:p>
          <a:p>
            <a:pPr algn="just"/>
            <a:r>
              <a:rPr lang="tr-TR" dirty="0"/>
              <a:t>En yüksek başarımlar </a:t>
            </a:r>
            <a:r>
              <a:rPr lang="tr-TR" dirty="0" err="1"/>
              <a:t>PeMS</a:t>
            </a:r>
            <a:r>
              <a:rPr lang="tr-TR" dirty="0"/>
              <a:t>-BAY veri seti ile 15 dakikalık gözlemlerde Central setup’ı ile sırasıyla MAE: 1,48, RMSE: 3,09, WMAPE: 2,38 olarak gözlemlenmiştir.</a:t>
            </a:r>
          </a:p>
        </p:txBody>
      </p:sp>
    </p:spTree>
    <p:extLst>
      <p:ext uri="{BB962C8B-B14F-4D97-AF65-F5344CB8AC3E}">
        <p14:creationId xmlns:p14="http://schemas.microsoft.com/office/powerpoint/2010/main" val="3350927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44ABC53-F307-090F-1FD2-8653D50213BF}"/>
              </a:ext>
            </a:extLst>
          </p:cNvPr>
          <p:cNvSpPr>
            <a:spLocks noGrp="1"/>
          </p:cNvSpPr>
          <p:nvPr>
            <p:ph type="title"/>
          </p:nvPr>
        </p:nvSpPr>
        <p:spPr/>
        <p:txBody>
          <a:bodyPr>
            <a:normAutofit/>
          </a:bodyPr>
          <a:lstStyle/>
          <a:p>
            <a:r>
              <a:rPr lang="tr-TR" sz="3200" b="1" dirty="0"/>
              <a:t>4. </a:t>
            </a:r>
            <a:r>
              <a:rPr lang="en-US" sz="3200" b="1" dirty="0"/>
              <a:t>Semi-decentralized Training of </a:t>
            </a:r>
            <a:r>
              <a:rPr lang="en-US" sz="3200" b="1" dirty="0" err="1"/>
              <a:t>Spatio</a:t>
            </a:r>
            <a:r>
              <a:rPr lang="en-US" sz="3200" b="1" dirty="0"/>
              <a:t>-Temporal Graph Neural Networks for Traffic Prediction</a:t>
            </a:r>
            <a:endParaRPr lang="tr-TR" sz="3200" dirty="0"/>
          </a:p>
        </p:txBody>
      </p:sp>
      <p:pic>
        <p:nvPicPr>
          <p:cNvPr id="9" name="İçerik Yer Tutucusu 8">
            <a:extLst>
              <a:ext uri="{FF2B5EF4-FFF2-40B4-BE49-F238E27FC236}">
                <a16:creationId xmlns:a16="http://schemas.microsoft.com/office/drawing/2014/main" id="{121B49B5-57C6-4BED-7499-358F6665B7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59584" y="1443885"/>
            <a:ext cx="5672831" cy="5146644"/>
          </a:xfrm>
        </p:spPr>
      </p:pic>
    </p:spTree>
    <p:extLst>
      <p:ext uri="{BB962C8B-B14F-4D97-AF65-F5344CB8AC3E}">
        <p14:creationId xmlns:p14="http://schemas.microsoft.com/office/powerpoint/2010/main" val="1141445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5. </a:t>
            </a:r>
            <a:r>
              <a:rPr lang="en-US" sz="3200" b="1" dirty="0"/>
              <a:t>STGC-GNNs: A GNN-based traffic prediction framework with a spatial–temporal Granger causality graph</a:t>
            </a:r>
            <a:endParaRPr lang="tr-TR" sz="3200" b="1" dirty="0"/>
          </a:p>
        </p:txBody>
      </p:sp>
      <p:sp>
        <p:nvSpPr>
          <p:cNvPr id="3" name="İçerik Yer Tutucusu 2"/>
          <p:cNvSpPr>
            <a:spLocks noGrp="1"/>
          </p:cNvSpPr>
          <p:nvPr>
            <p:ph idx="1"/>
          </p:nvPr>
        </p:nvSpPr>
        <p:spPr/>
        <p:txBody>
          <a:bodyPr/>
          <a:lstStyle/>
          <a:p>
            <a:pPr algn="just"/>
            <a:r>
              <a:rPr lang="tr-TR" dirty="0"/>
              <a:t>Bu çalışmada trafiğin </a:t>
            </a:r>
            <a:r>
              <a:rPr lang="tr-TR" dirty="0" err="1"/>
              <a:t>mekansal</a:t>
            </a:r>
            <a:r>
              <a:rPr lang="tr-TR" dirty="0"/>
              <a:t> bağımlılığının modellenmesi çalışması gerçekleştirilmiştir.</a:t>
            </a:r>
          </a:p>
          <a:p>
            <a:pPr algn="just"/>
            <a:r>
              <a:rPr lang="tr-TR" dirty="0"/>
              <a:t>15, 30 ve 60’ar dakikalık gözlemler ile elde edilen sonuçlar yorumlanarak ağırlık matrisleri oluşturulmuştur.</a:t>
            </a:r>
          </a:p>
          <a:p>
            <a:pPr algn="just"/>
            <a:r>
              <a:rPr lang="tr-TR" dirty="0"/>
              <a:t>MAPE, RMSE ve MAE metrikleri elde edilmiştir.</a:t>
            </a:r>
          </a:p>
          <a:p>
            <a:pPr algn="just"/>
            <a:r>
              <a:rPr lang="tr-TR" dirty="0"/>
              <a:t>Veri seti olarak METR-LA kullanılmıştır.</a:t>
            </a:r>
          </a:p>
          <a:p>
            <a:pPr algn="just"/>
            <a:r>
              <a:rPr lang="tr-TR" dirty="0"/>
              <a:t>En yüksek başarımlar STGC-GWNET ile 45 dakikalık periyot için MAE, MAPE, RMSE sırasıyla 3,03, 8,19, 6,01 olarak elde edilmiştir.</a:t>
            </a:r>
          </a:p>
        </p:txBody>
      </p:sp>
    </p:spTree>
    <p:extLst>
      <p:ext uri="{BB962C8B-B14F-4D97-AF65-F5344CB8AC3E}">
        <p14:creationId xmlns:p14="http://schemas.microsoft.com/office/powerpoint/2010/main" val="703578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75F0BB-4793-456C-4AB2-6239DF216A46}"/>
              </a:ext>
            </a:extLst>
          </p:cNvPr>
          <p:cNvSpPr>
            <a:spLocks noGrp="1"/>
          </p:cNvSpPr>
          <p:nvPr>
            <p:ph type="title"/>
          </p:nvPr>
        </p:nvSpPr>
        <p:spPr/>
        <p:txBody>
          <a:bodyPr>
            <a:noAutofit/>
          </a:bodyPr>
          <a:lstStyle/>
          <a:p>
            <a:r>
              <a:rPr lang="tr-TR" sz="3200" b="1" dirty="0"/>
              <a:t>5. </a:t>
            </a:r>
            <a:r>
              <a:rPr lang="en-US" sz="3200" b="1" dirty="0"/>
              <a:t>STGC-GNNs: A GNN-based traffic prediction framework with a spatial–temporal Granger causality graph</a:t>
            </a:r>
            <a:endParaRPr lang="tr-TR" sz="3200" dirty="0"/>
          </a:p>
        </p:txBody>
      </p:sp>
      <p:pic>
        <p:nvPicPr>
          <p:cNvPr id="5" name="İçerik Yer Tutucusu 4">
            <a:extLst>
              <a:ext uri="{FF2B5EF4-FFF2-40B4-BE49-F238E27FC236}">
                <a16:creationId xmlns:a16="http://schemas.microsoft.com/office/drawing/2014/main" id="{70CCF014-A601-1574-F3E5-144D14838F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2608" y="1455939"/>
            <a:ext cx="9366784" cy="4917006"/>
          </a:xfrm>
        </p:spPr>
      </p:pic>
    </p:spTree>
    <p:extLst>
      <p:ext uri="{BB962C8B-B14F-4D97-AF65-F5344CB8AC3E}">
        <p14:creationId xmlns:p14="http://schemas.microsoft.com/office/powerpoint/2010/main" val="1557548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6. </a:t>
            </a:r>
            <a:r>
              <a:rPr lang="en-US" sz="3200" b="1" dirty="0"/>
              <a:t>A heterogeneous traffic </a:t>
            </a:r>
            <a:r>
              <a:rPr lang="en-US" sz="3200" b="1" dirty="0" err="1"/>
              <a:t>spatio</a:t>
            </a:r>
            <a:r>
              <a:rPr lang="en-US" sz="3200" b="1" dirty="0"/>
              <a:t>-temporal graph convolution model for traffic prediction</a:t>
            </a:r>
            <a:endParaRPr lang="tr-TR" sz="3200" b="1" dirty="0"/>
          </a:p>
        </p:txBody>
      </p:sp>
      <p:sp>
        <p:nvSpPr>
          <p:cNvPr id="3" name="İçerik Yer Tutucusu 2"/>
          <p:cNvSpPr>
            <a:spLocks noGrp="1"/>
          </p:cNvSpPr>
          <p:nvPr>
            <p:ph idx="1"/>
          </p:nvPr>
        </p:nvSpPr>
        <p:spPr/>
        <p:txBody>
          <a:bodyPr/>
          <a:lstStyle/>
          <a:p>
            <a:pPr algn="just"/>
            <a:r>
              <a:rPr lang="tr-TR" dirty="0"/>
              <a:t>Bu çalışmada trafik yoğunluk tahmini uygulaması gerçekleştirilmiştir. Uygulanan yöntemler HTSTGC, SGC, </a:t>
            </a:r>
            <a:r>
              <a:rPr lang="tr-TR" dirty="0" err="1"/>
              <a:t>GGNN’dir</a:t>
            </a:r>
            <a:r>
              <a:rPr lang="tr-TR" dirty="0"/>
              <a:t>.</a:t>
            </a:r>
          </a:p>
          <a:p>
            <a:pPr algn="just"/>
            <a:r>
              <a:rPr lang="tr-TR" dirty="0"/>
              <a:t>Veri seti olarak Pems03, Pems04, Pems08 veri setleri kullanılmıştır.</a:t>
            </a:r>
          </a:p>
          <a:p>
            <a:pPr algn="just"/>
            <a:r>
              <a:rPr lang="tr-TR" dirty="0"/>
              <a:t>Başarım metrikleri MAE, RMSE, MAPE ve başarımlar sırasıyla 16,81, 25,58, 11,09 olarak gözlemlenmiştir.</a:t>
            </a:r>
          </a:p>
        </p:txBody>
      </p:sp>
    </p:spTree>
    <p:extLst>
      <p:ext uri="{BB962C8B-B14F-4D97-AF65-F5344CB8AC3E}">
        <p14:creationId xmlns:p14="http://schemas.microsoft.com/office/powerpoint/2010/main" val="3177989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4E2A35-E864-5F3B-5C39-4494276BF1A5}"/>
              </a:ext>
            </a:extLst>
          </p:cNvPr>
          <p:cNvSpPr>
            <a:spLocks noGrp="1"/>
          </p:cNvSpPr>
          <p:nvPr>
            <p:ph type="title"/>
          </p:nvPr>
        </p:nvSpPr>
        <p:spPr/>
        <p:txBody>
          <a:bodyPr>
            <a:normAutofit/>
          </a:bodyPr>
          <a:lstStyle/>
          <a:p>
            <a:r>
              <a:rPr lang="tr-TR" sz="3200" b="1" dirty="0"/>
              <a:t>6. </a:t>
            </a:r>
            <a:r>
              <a:rPr lang="en-US" sz="3200" b="1" dirty="0"/>
              <a:t>A heterogeneous traffic </a:t>
            </a:r>
            <a:r>
              <a:rPr lang="en-US" sz="3200" b="1" dirty="0" err="1"/>
              <a:t>spatio</a:t>
            </a:r>
            <a:r>
              <a:rPr lang="en-US" sz="3200" b="1" dirty="0"/>
              <a:t>-temporal graph convolution model for traffic prediction</a:t>
            </a:r>
            <a:endParaRPr lang="tr-TR" sz="3200" dirty="0"/>
          </a:p>
        </p:txBody>
      </p:sp>
      <p:pic>
        <p:nvPicPr>
          <p:cNvPr id="5" name="İçerik Yer Tutucusu 4">
            <a:extLst>
              <a:ext uri="{FF2B5EF4-FFF2-40B4-BE49-F238E27FC236}">
                <a16:creationId xmlns:a16="http://schemas.microsoft.com/office/drawing/2014/main" id="{4C5D497E-878F-7373-4EE7-3B5BAF189E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4755" y="1518082"/>
            <a:ext cx="9562490" cy="4667759"/>
          </a:xfrm>
        </p:spPr>
      </p:pic>
    </p:spTree>
    <p:extLst>
      <p:ext uri="{BB962C8B-B14F-4D97-AF65-F5344CB8AC3E}">
        <p14:creationId xmlns:p14="http://schemas.microsoft.com/office/powerpoint/2010/main" val="2878937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7. </a:t>
            </a:r>
            <a:r>
              <a:rPr lang="en-US" sz="3200" b="1" dirty="0" err="1"/>
              <a:t>Spatio</a:t>
            </a:r>
            <a:r>
              <a:rPr lang="en-US" sz="3200" b="1" dirty="0"/>
              <a:t>-Temporal Pivotal Graph Neural Networks for Traffic Flow Forecasting</a:t>
            </a:r>
            <a:endParaRPr lang="tr-TR" sz="3200" b="1" dirty="0"/>
          </a:p>
        </p:txBody>
      </p:sp>
      <p:sp>
        <p:nvSpPr>
          <p:cNvPr id="3" name="İçerik Yer Tutucusu 2"/>
          <p:cNvSpPr>
            <a:spLocks noGrp="1"/>
          </p:cNvSpPr>
          <p:nvPr>
            <p:ph idx="1"/>
          </p:nvPr>
        </p:nvSpPr>
        <p:spPr/>
        <p:txBody>
          <a:bodyPr>
            <a:normAutofit lnSpcReduction="10000"/>
          </a:bodyPr>
          <a:lstStyle/>
          <a:p>
            <a:r>
              <a:rPr lang="tr-TR" dirty="0"/>
              <a:t>Bu çalışmada trafik akış tahmini çalışması gerçekleştirilmiştir. Bunun için </a:t>
            </a:r>
            <a:r>
              <a:rPr lang="tr-TR" dirty="0" err="1"/>
              <a:t>Spatio</a:t>
            </a:r>
            <a:r>
              <a:rPr lang="tr-TR" dirty="0"/>
              <a:t>-Temporal Pivotal </a:t>
            </a:r>
            <a:r>
              <a:rPr lang="tr-TR" dirty="0" err="1"/>
              <a:t>Graph</a:t>
            </a:r>
            <a:r>
              <a:rPr lang="tr-TR" dirty="0"/>
              <a:t> </a:t>
            </a:r>
            <a:r>
              <a:rPr lang="tr-TR" dirty="0" err="1"/>
              <a:t>Neural</a:t>
            </a:r>
            <a:r>
              <a:rPr lang="tr-TR" dirty="0"/>
              <a:t> Networks (STPGNN) yöntemi önerilmiştir.</a:t>
            </a:r>
          </a:p>
          <a:p>
            <a:r>
              <a:rPr lang="tr-TR" dirty="0"/>
              <a:t>7 farklı veri seti ile deneyler gerçekleştirilmiştir.</a:t>
            </a:r>
          </a:p>
          <a:p>
            <a:r>
              <a:rPr lang="tr-TR" dirty="0"/>
              <a:t>Veri seti olarak PEMS-03, PEMS-04, PEMS-07, PEMS-08, </a:t>
            </a:r>
            <a:r>
              <a:rPr lang="tr-TR" dirty="0" err="1"/>
              <a:t>England</a:t>
            </a:r>
            <a:r>
              <a:rPr lang="tr-TR" dirty="0"/>
              <a:t>, </a:t>
            </a:r>
            <a:r>
              <a:rPr lang="tr-TR" dirty="0" err="1"/>
              <a:t>TaxiBJ</a:t>
            </a:r>
            <a:r>
              <a:rPr lang="tr-TR" dirty="0"/>
              <a:t> ve PEMS-BAY  kullanılmıştır.</a:t>
            </a:r>
          </a:p>
          <a:p>
            <a:r>
              <a:rPr lang="tr-TR" dirty="0"/>
              <a:t>Çeşitli algoritmalarla elde edilen deneysel sonuçlarda en yüksek başarımların STPGNN ile elde edildiği görülmüştür.</a:t>
            </a:r>
          </a:p>
          <a:p>
            <a:r>
              <a:rPr lang="tr-TR" dirty="0"/>
              <a:t>En yüksek başarımlar PEMS-BAY veri seti ile sırasıyla MAE, MAPE, RMSE için 1,45, 3,57, 3,46 olarak gözlemlenmiştir.</a:t>
            </a:r>
          </a:p>
        </p:txBody>
      </p:sp>
    </p:spTree>
    <p:extLst>
      <p:ext uri="{BB962C8B-B14F-4D97-AF65-F5344CB8AC3E}">
        <p14:creationId xmlns:p14="http://schemas.microsoft.com/office/powerpoint/2010/main" val="1644821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FF93536-BD37-77EB-5F38-F7930A0259E7}"/>
              </a:ext>
            </a:extLst>
          </p:cNvPr>
          <p:cNvSpPr>
            <a:spLocks noGrp="1"/>
          </p:cNvSpPr>
          <p:nvPr>
            <p:ph type="title"/>
          </p:nvPr>
        </p:nvSpPr>
        <p:spPr/>
        <p:txBody>
          <a:bodyPr>
            <a:normAutofit/>
          </a:bodyPr>
          <a:lstStyle/>
          <a:p>
            <a:r>
              <a:rPr lang="tr-TR" sz="3200" b="1" dirty="0"/>
              <a:t>7. </a:t>
            </a:r>
            <a:r>
              <a:rPr lang="en-US" sz="3200" b="1" dirty="0" err="1"/>
              <a:t>Spatio</a:t>
            </a:r>
            <a:r>
              <a:rPr lang="en-US" sz="3200" b="1" dirty="0"/>
              <a:t>-Temporal Pivotal Graph Neural Networks for Traffic Flow Forecasting</a:t>
            </a:r>
            <a:endParaRPr lang="tr-TR" sz="3200" dirty="0"/>
          </a:p>
        </p:txBody>
      </p:sp>
      <p:pic>
        <p:nvPicPr>
          <p:cNvPr id="5" name="İçerik Yer Tutucusu 4">
            <a:extLst>
              <a:ext uri="{FF2B5EF4-FFF2-40B4-BE49-F238E27FC236}">
                <a16:creationId xmlns:a16="http://schemas.microsoft.com/office/drawing/2014/main" id="{330672A9-B8C1-C47D-5CEB-35762D1B6E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2038" y="1464816"/>
            <a:ext cx="8047924" cy="5143469"/>
          </a:xfrm>
        </p:spPr>
      </p:pic>
    </p:spTree>
    <p:extLst>
      <p:ext uri="{BB962C8B-B14F-4D97-AF65-F5344CB8AC3E}">
        <p14:creationId xmlns:p14="http://schemas.microsoft.com/office/powerpoint/2010/main" val="604922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Autofit/>
          </a:bodyPr>
          <a:lstStyle/>
          <a:p>
            <a:r>
              <a:rPr lang="tr-TR" sz="3200" b="1" dirty="0"/>
              <a:t>8. </a:t>
            </a:r>
            <a:r>
              <a:rPr lang="en-US" sz="3200" b="1" dirty="0"/>
              <a:t>Spatiotemporal Factorized Graph Neural Networks for Joint Large-Scale Traffic Prediction and Online Pattern Recognition</a:t>
            </a:r>
            <a:endParaRPr lang="tr-TR" sz="3200" b="1" dirty="0"/>
          </a:p>
        </p:txBody>
      </p:sp>
      <p:sp>
        <p:nvSpPr>
          <p:cNvPr id="3" name="İçerik Yer Tutucusu 2"/>
          <p:cNvSpPr>
            <a:spLocks noGrp="1"/>
          </p:cNvSpPr>
          <p:nvPr>
            <p:ph idx="1"/>
          </p:nvPr>
        </p:nvSpPr>
        <p:spPr/>
        <p:txBody>
          <a:bodyPr>
            <a:normAutofit/>
          </a:bodyPr>
          <a:lstStyle/>
          <a:p>
            <a:pPr algn="just"/>
            <a:r>
              <a:rPr lang="tr-TR" dirty="0"/>
              <a:t>Bu çalışmada geliştirilen </a:t>
            </a:r>
            <a:r>
              <a:rPr lang="tr-TR" dirty="0" err="1"/>
              <a:t>Spatiotemporal</a:t>
            </a:r>
            <a:r>
              <a:rPr lang="tr-TR" dirty="0"/>
              <a:t> </a:t>
            </a:r>
            <a:r>
              <a:rPr lang="tr-TR" dirty="0" err="1"/>
              <a:t>Factorized</a:t>
            </a:r>
            <a:r>
              <a:rPr lang="tr-TR" dirty="0"/>
              <a:t> </a:t>
            </a:r>
            <a:r>
              <a:rPr lang="tr-TR" dirty="0" err="1"/>
              <a:t>Graph</a:t>
            </a:r>
            <a:r>
              <a:rPr lang="tr-TR" dirty="0"/>
              <a:t> </a:t>
            </a:r>
            <a:r>
              <a:rPr lang="tr-TR" dirty="0" err="1"/>
              <a:t>Neural</a:t>
            </a:r>
            <a:r>
              <a:rPr lang="tr-TR" dirty="0"/>
              <a:t> Network (STF-GNN) yöntemi ile trafik yoğunluğu tahmini gerçekleştirilmiştir.</a:t>
            </a:r>
          </a:p>
          <a:p>
            <a:pPr algn="just"/>
            <a:r>
              <a:rPr lang="tr-TR" dirty="0"/>
              <a:t>Yapılan çalışmada veri seti olarak BART, HIGHWAY-ZJ, METR-LA, SUBWAY-MTA kullanılmıştır.</a:t>
            </a:r>
          </a:p>
          <a:p>
            <a:pPr algn="just"/>
            <a:r>
              <a:rPr lang="tr-TR" dirty="0"/>
              <a:t>Hesaplanan başarım metrikleri MAE, </a:t>
            </a:r>
            <a:r>
              <a:rPr lang="tr-TR" dirty="0" err="1"/>
              <a:t>NRMSE’dir</a:t>
            </a:r>
            <a:r>
              <a:rPr lang="tr-TR" dirty="0"/>
              <a:t>.</a:t>
            </a:r>
          </a:p>
          <a:p>
            <a:pPr algn="just"/>
            <a:r>
              <a:rPr lang="tr-TR" dirty="0"/>
              <a:t>En yüksek başarımlar STFGNN yöntemi ve METR-LA veri seti ile MAE, NRMSE değerleri sırasıyla 2,703, 0,093 olarak elde edilmiştir.</a:t>
            </a:r>
          </a:p>
        </p:txBody>
      </p:sp>
    </p:spTree>
    <p:extLst>
      <p:ext uri="{BB962C8B-B14F-4D97-AF65-F5344CB8AC3E}">
        <p14:creationId xmlns:p14="http://schemas.microsoft.com/office/powerpoint/2010/main" val="1833218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C833025-E8BE-D8B9-3E50-DEFEEB63C5B0}"/>
              </a:ext>
            </a:extLst>
          </p:cNvPr>
          <p:cNvSpPr>
            <a:spLocks noGrp="1"/>
          </p:cNvSpPr>
          <p:nvPr>
            <p:ph type="title"/>
          </p:nvPr>
        </p:nvSpPr>
        <p:spPr/>
        <p:txBody>
          <a:bodyPr>
            <a:noAutofit/>
          </a:bodyPr>
          <a:lstStyle/>
          <a:p>
            <a:r>
              <a:rPr lang="tr-TR" sz="3200" b="1" dirty="0"/>
              <a:t>8. </a:t>
            </a:r>
            <a:r>
              <a:rPr lang="en-US" sz="3200" b="1" dirty="0"/>
              <a:t>Spatiotemporal Factorized Graph Neural Networks for Joint Large-Scale Traffic Prediction and Online Pattern Recognition</a:t>
            </a:r>
            <a:endParaRPr lang="tr-TR" sz="3200" dirty="0"/>
          </a:p>
        </p:txBody>
      </p:sp>
      <p:pic>
        <p:nvPicPr>
          <p:cNvPr id="5" name="İçerik Yer Tutucusu 4">
            <a:extLst>
              <a:ext uri="{FF2B5EF4-FFF2-40B4-BE49-F238E27FC236}">
                <a16:creationId xmlns:a16="http://schemas.microsoft.com/office/drawing/2014/main" id="{5B25C426-093E-68F6-01C1-78AE55B1D2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1698" y="1761710"/>
            <a:ext cx="9268604" cy="4430214"/>
          </a:xfrm>
        </p:spPr>
      </p:pic>
    </p:spTree>
    <p:extLst>
      <p:ext uri="{BB962C8B-B14F-4D97-AF65-F5344CB8AC3E}">
        <p14:creationId xmlns:p14="http://schemas.microsoft.com/office/powerpoint/2010/main" val="3302943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9. </a:t>
            </a:r>
            <a:r>
              <a:rPr lang="en-US" sz="3200" b="1" dirty="0"/>
              <a:t>Multi-factor embedding GNN-based traffic flow prediction considering intersection similarity</a:t>
            </a:r>
            <a:endParaRPr lang="tr-TR" sz="3200" b="1" dirty="0"/>
          </a:p>
        </p:txBody>
      </p:sp>
      <p:sp>
        <p:nvSpPr>
          <p:cNvPr id="3" name="İçerik Yer Tutucusu 2"/>
          <p:cNvSpPr>
            <a:spLocks noGrp="1"/>
          </p:cNvSpPr>
          <p:nvPr>
            <p:ph idx="1"/>
          </p:nvPr>
        </p:nvSpPr>
        <p:spPr/>
        <p:txBody>
          <a:bodyPr>
            <a:normAutofit/>
          </a:bodyPr>
          <a:lstStyle/>
          <a:p>
            <a:pPr algn="just"/>
            <a:r>
              <a:rPr lang="tr-TR" dirty="0"/>
              <a:t>Bu çalışmada hassas trafik akışı tahmini analizi yapılmıştır.</a:t>
            </a:r>
          </a:p>
          <a:p>
            <a:pPr algn="just"/>
            <a:r>
              <a:rPr lang="tr-TR" dirty="0"/>
              <a:t>Ayrıca araç yörünge verilerini analiz etmek için bir </a:t>
            </a:r>
            <a:r>
              <a:rPr lang="tr-TR" dirty="0" err="1"/>
              <a:t>framework</a:t>
            </a:r>
            <a:r>
              <a:rPr lang="tr-TR" dirty="0"/>
              <a:t> sunulmaktadır.</a:t>
            </a:r>
          </a:p>
          <a:p>
            <a:pPr algn="just"/>
            <a:r>
              <a:rPr lang="tr-TR" dirty="0"/>
              <a:t>Yol ağı topolojisinden türetilen vektörlerin </a:t>
            </a:r>
            <a:r>
              <a:rPr lang="tr-TR" dirty="0" err="1"/>
              <a:t>mekansal</a:t>
            </a:r>
            <a:r>
              <a:rPr lang="tr-TR" dirty="0"/>
              <a:t>-zamansal bağımlılıkları </a:t>
            </a:r>
            <a:r>
              <a:rPr lang="tr-TR" dirty="0" err="1"/>
              <a:t>Skip</a:t>
            </a:r>
            <a:r>
              <a:rPr lang="tr-TR" dirty="0"/>
              <a:t>-Gram ve </a:t>
            </a:r>
            <a:r>
              <a:rPr lang="tr-TR" dirty="0" err="1"/>
              <a:t>GraphSAGE</a:t>
            </a:r>
            <a:r>
              <a:rPr lang="tr-TR" dirty="0"/>
              <a:t> kullanarak modellenmektedir.</a:t>
            </a:r>
          </a:p>
          <a:p>
            <a:pPr algn="just"/>
            <a:r>
              <a:rPr lang="tr-TR" dirty="0"/>
              <a:t>Veriler Çin'in </a:t>
            </a:r>
            <a:r>
              <a:rPr lang="tr-TR" dirty="0" err="1"/>
              <a:t>Qingdao</a:t>
            </a:r>
            <a:r>
              <a:rPr lang="tr-TR" dirty="0"/>
              <a:t> kentindeki gerçek dünya trafik akışı veri kümesinden elde edilmiştir.</a:t>
            </a:r>
          </a:p>
          <a:p>
            <a:pPr algn="just"/>
            <a:r>
              <a:rPr lang="tr-TR" dirty="0"/>
              <a:t>Deneysel sonuçlarda elde edilen değerler MAE ve RMSE için 12,33 ve 17,79 olarak hesaplanmıştır.</a:t>
            </a:r>
          </a:p>
        </p:txBody>
      </p:sp>
    </p:spTree>
    <p:extLst>
      <p:ext uri="{BB962C8B-B14F-4D97-AF65-F5344CB8AC3E}">
        <p14:creationId xmlns:p14="http://schemas.microsoft.com/office/powerpoint/2010/main" val="3947730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BB0BA7-89DE-48EB-06DC-41DDF8D401B0}"/>
              </a:ext>
            </a:extLst>
          </p:cNvPr>
          <p:cNvSpPr>
            <a:spLocks noGrp="1"/>
          </p:cNvSpPr>
          <p:nvPr>
            <p:ph type="title"/>
          </p:nvPr>
        </p:nvSpPr>
        <p:spPr/>
        <p:txBody>
          <a:bodyPr>
            <a:normAutofit/>
          </a:bodyPr>
          <a:lstStyle/>
          <a:p>
            <a:r>
              <a:rPr lang="tr-TR" sz="3200" b="1" dirty="0"/>
              <a:t>9. </a:t>
            </a:r>
            <a:r>
              <a:rPr lang="en-US" sz="3200" b="1" dirty="0"/>
              <a:t>Multi-factor embedding GNN-based traffic flow prediction considering intersection similarity</a:t>
            </a:r>
            <a:endParaRPr lang="tr-TR" sz="3200" dirty="0"/>
          </a:p>
        </p:txBody>
      </p:sp>
      <p:pic>
        <p:nvPicPr>
          <p:cNvPr id="5" name="İçerik Yer Tutucusu 4">
            <a:extLst>
              <a:ext uri="{FF2B5EF4-FFF2-40B4-BE49-F238E27FC236}">
                <a16:creationId xmlns:a16="http://schemas.microsoft.com/office/drawing/2014/main" id="{9A2B567C-D415-76A8-C07C-5E2D506093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1481" y="1953087"/>
            <a:ext cx="7229038" cy="3675523"/>
          </a:xfrm>
        </p:spPr>
      </p:pic>
    </p:spTree>
    <p:extLst>
      <p:ext uri="{BB962C8B-B14F-4D97-AF65-F5344CB8AC3E}">
        <p14:creationId xmlns:p14="http://schemas.microsoft.com/office/powerpoint/2010/main" val="2042344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B3424C-D74F-347D-5395-788F57E0AA1D}"/>
              </a:ext>
            </a:extLst>
          </p:cNvPr>
          <p:cNvSpPr>
            <a:spLocks noGrp="1"/>
          </p:cNvSpPr>
          <p:nvPr>
            <p:ph type="title"/>
          </p:nvPr>
        </p:nvSpPr>
        <p:spPr/>
        <p:txBody>
          <a:bodyPr>
            <a:normAutofit/>
          </a:bodyPr>
          <a:lstStyle/>
          <a:p>
            <a:r>
              <a:rPr lang="tr-TR" sz="3200" b="1" dirty="0"/>
              <a:t>9. </a:t>
            </a:r>
            <a:r>
              <a:rPr lang="en-US" sz="3200" b="1" dirty="0"/>
              <a:t>Multi-factor embedding GNN-based traffic flow prediction considering intersection similarity</a:t>
            </a:r>
            <a:endParaRPr lang="tr-TR" sz="3200" dirty="0"/>
          </a:p>
        </p:txBody>
      </p:sp>
      <p:pic>
        <p:nvPicPr>
          <p:cNvPr id="5" name="İçerik Yer Tutucusu 4">
            <a:extLst>
              <a:ext uri="{FF2B5EF4-FFF2-40B4-BE49-F238E27FC236}">
                <a16:creationId xmlns:a16="http://schemas.microsoft.com/office/drawing/2014/main" id="{A6FA0BDE-28E6-A9C4-1278-7059FE8FCB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8084" y="2175030"/>
            <a:ext cx="9915831" cy="3215182"/>
          </a:xfrm>
        </p:spPr>
      </p:pic>
    </p:spTree>
    <p:extLst>
      <p:ext uri="{BB962C8B-B14F-4D97-AF65-F5344CB8AC3E}">
        <p14:creationId xmlns:p14="http://schemas.microsoft.com/office/powerpoint/2010/main" val="2335204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t>10. </a:t>
            </a:r>
            <a:r>
              <a:rPr lang="en-US" sz="3200" b="1" dirty="0"/>
              <a:t>Adaptive </a:t>
            </a:r>
            <a:r>
              <a:rPr lang="en-US" sz="3200" b="1" dirty="0" err="1"/>
              <a:t>spatio</a:t>
            </a:r>
            <a:r>
              <a:rPr lang="en-US" sz="3200" b="1" dirty="0"/>
              <a:t>-temporal graph neural network for traffic forecasting</a:t>
            </a:r>
            <a:endParaRPr lang="tr-TR" sz="3200" dirty="0"/>
          </a:p>
        </p:txBody>
      </p:sp>
      <p:sp>
        <p:nvSpPr>
          <p:cNvPr id="3" name="İçerik Yer Tutucusu 2"/>
          <p:cNvSpPr>
            <a:spLocks noGrp="1"/>
          </p:cNvSpPr>
          <p:nvPr>
            <p:ph idx="1"/>
          </p:nvPr>
        </p:nvSpPr>
        <p:spPr/>
        <p:txBody>
          <a:bodyPr>
            <a:normAutofit lnSpcReduction="10000"/>
          </a:bodyPr>
          <a:lstStyle/>
          <a:p>
            <a:pPr algn="just"/>
            <a:r>
              <a:rPr lang="tr-TR" dirty="0"/>
              <a:t>Bu makalede, düğüm özellikleri baz alınarak çok adımlı trafik tahmini için </a:t>
            </a:r>
            <a:r>
              <a:rPr lang="tr-TR" dirty="0" err="1"/>
              <a:t>mekansal</a:t>
            </a:r>
            <a:r>
              <a:rPr lang="tr-TR" dirty="0"/>
              <a:t>-zamansal </a:t>
            </a:r>
            <a:r>
              <a:rPr lang="tr-TR" dirty="0" err="1"/>
              <a:t>evrişim</a:t>
            </a:r>
            <a:r>
              <a:rPr lang="tr-TR" dirty="0"/>
              <a:t> mimarisi aracılığıyla karmaşık korelasyonları yakalamak için Ada-</a:t>
            </a:r>
            <a:r>
              <a:rPr lang="tr-TR" dirty="0" err="1"/>
              <a:t>STNet</a:t>
            </a:r>
            <a:r>
              <a:rPr lang="tr-TR" dirty="0"/>
              <a:t> adlı bir </a:t>
            </a:r>
            <a:r>
              <a:rPr lang="tr-TR" dirty="0" err="1"/>
              <a:t>Spatio</a:t>
            </a:r>
            <a:r>
              <a:rPr lang="tr-TR" dirty="0"/>
              <a:t> GNN geliştirilmiştir.</a:t>
            </a:r>
          </a:p>
          <a:p>
            <a:pPr algn="just"/>
            <a:r>
              <a:rPr lang="tr-TR" dirty="0"/>
              <a:t>Bu yöntemde düğümler arasındaki </a:t>
            </a:r>
            <a:r>
              <a:rPr lang="tr-TR" dirty="0" err="1"/>
              <a:t>mekansal</a:t>
            </a:r>
            <a:r>
              <a:rPr lang="tr-TR" dirty="0"/>
              <a:t> ilişkileri yakalamak için en uygun graf üretilip ardından birden fazla </a:t>
            </a:r>
            <a:r>
              <a:rPr lang="tr-TR" dirty="0" err="1"/>
              <a:t>spatio</a:t>
            </a:r>
            <a:r>
              <a:rPr lang="tr-TR" dirty="0"/>
              <a:t> </a:t>
            </a:r>
            <a:r>
              <a:rPr lang="tr-TR" dirty="0" err="1"/>
              <a:t>evrişim</a:t>
            </a:r>
            <a:r>
              <a:rPr lang="tr-TR" dirty="0"/>
              <a:t> katmanını üst üste koyarak çok adımlı trafik tahmini yapmaktadır.</a:t>
            </a:r>
          </a:p>
          <a:p>
            <a:pPr algn="just"/>
            <a:r>
              <a:rPr lang="tr-TR" dirty="0"/>
              <a:t>Çalışmada METR-LA ve PEMS-BAY veri setleri kullanılmıştır.</a:t>
            </a:r>
          </a:p>
          <a:p>
            <a:pPr algn="just"/>
            <a:r>
              <a:rPr lang="tr-TR" dirty="0"/>
              <a:t>Çeşitli algoritmalarla yapılan testler sonucunda en yüksek başarımlar Ada-</a:t>
            </a:r>
            <a:r>
              <a:rPr lang="tr-TR" dirty="0" err="1"/>
              <a:t>STNet</a:t>
            </a:r>
            <a:r>
              <a:rPr lang="tr-TR" dirty="0"/>
              <a:t> ile sırasıyla MAE, RMSE ve MAPE için 1,30, 2,73, 2,7 olarak gözlemlenmiştir.</a:t>
            </a:r>
          </a:p>
        </p:txBody>
      </p:sp>
    </p:spTree>
    <p:extLst>
      <p:ext uri="{BB962C8B-B14F-4D97-AF65-F5344CB8AC3E}">
        <p14:creationId xmlns:p14="http://schemas.microsoft.com/office/powerpoint/2010/main" val="3286056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40D7B3-F744-F4A2-2F28-B92625F73E02}"/>
              </a:ext>
            </a:extLst>
          </p:cNvPr>
          <p:cNvSpPr>
            <a:spLocks noGrp="1"/>
          </p:cNvSpPr>
          <p:nvPr>
            <p:ph type="title"/>
          </p:nvPr>
        </p:nvSpPr>
        <p:spPr/>
        <p:txBody>
          <a:bodyPr>
            <a:normAutofit/>
          </a:bodyPr>
          <a:lstStyle/>
          <a:p>
            <a:r>
              <a:rPr lang="tr-TR" sz="3200" b="1" dirty="0"/>
              <a:t>10. </a:t>
            </a:r>
            <a:r>
              <a:rPr lang="en-US" sz="3200" b="1" dirty="0"/>
              <a:t>Adaptive </a:t>
            </a:r>
            <a:r>
              <a:rPr lang="en-US" sz="3200" b="1" dirty="0" err="1"/>
              <a:t>spatio</a:t>
            </a:r>
            <a:r>
              <a:rPr lang="en-US" sz="3200" b="1" dirty="0"/>
              <a:t>-temporal graph neural network for traffic forecasting</a:t>
            </a:r>
            <a:endParaRPr lang="tr-TR" sz="3200" dirty="0"/>
          </a:p>
        </p:txBody>
      </p:sp>
      <p:pic>
        <p:nvPicPr>
          <p:cNvPr id="5" name="İçerik Yer Tutucusu 4">
            <a:extLst>
              <a:ext uri="{FF2B5EF4-FFF2-40B4-BE49-F238E27FC236}">
                <a16:creationId xmlns:a16="http://schemas.microsoft.com/office/drawing/2014/main" id="{E3EA12BD-267A-9A14-E974-3890AC6577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4975" y="1690688"/>
            <a:ext cx="8966802" cy="4656709"/>
          </a:xfrm>
        </p:spPr>
      </p:pic>
    </p:spTree>
    <p:extLst>
      <p:ext uri="{BB962C8B-B14F-4D97-AF65-F5344CB8AC3E}">
        <p14:creationId xmlns:p14="http://schemas.microsoft.com/office/powerpoint/2010/main" val="4093026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77532BF-0DC7-6BFB-CD1D-3B5C0D29C07B}"/>
              </a:ext>
            </a:extLst>
          </p:cNvPr>
          <p:cNvSpPr>
            <a:spLocks noGrp="1"/>
          </p:cNvSpPr>
          <p:nvPr>
            <p:ph type="title"/>
          </p:nvPr>
        </p:nvSpPr>
        <p:spPr/>
        <p:txBody>
          <a:bodyPr>
            <a:normAutofit/>
          </a:bodyPr>
          <a:lstStyle/>
          <a:p>
            <a:r>
              <a:rPr lang="tr-TR" sz="3200" b="1" dirty="0"/>
              <a:t>10. </a:t>
            </a:r>
            <a:r>
              <a:rPr lang="en-US" sz="3200" b="1" dirty="0"/>
              <a:t>Adaptive </a:t>
            </a:r>
            <a:r>
              <a:rPr lang="en-US" sz="3200" b="1" dirty="0" err="1"/>
              <a:t>spatio</a:t>
            </a:r>
            <a:r>
              <a:rPr lang="en-US" sz="3200" b="1" dirty="0"/>
              <a:t>-temporal graph neural network for traffic forecasting</a:t>
            </a:r>
            <a:endParaRPr lang="tr-TR" sz="3200" dirty="0"/>
          </a:p>
        </p:txBody>
      </p:sp>
      <p:pic>
        <p:nvPicPr>
          <p:cNvPr id="5" name="İçerik Yer Tutucusu 4">
            <a:extLst>
              <a:ext uri="{FF2B5EF4-FFF2-40B4-BE49-F238E27FC236}">
                <a16:creationId xmlns:a16="http://schemas.microsoft.com/office/drawing/2014/main" id="{B9D124FB-E017-4C96-146C-5E3ECEAD21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6792" y="1592345"/>
            <a:ext cx="6778415" cy="4947138"/>
          </a:xfrm>
        </p:spPr>
      </p:pic>
    </p:spTree>
    <p:extLst>
      <p:ext uri="{BB962C8B-B14F-4D97-AF65-F5344CB8AC3E}">
        <p14:creationId xmlns:p14="http://schemas.microsoft.com/office/powerpoint/2010/main" val="36256505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Literatür Araştırması</a:t>
            </a:r>
          </a:p>
        </p:txBody>
      </p:sp>
      <p:graphicFrame>
        <p:nvGraphicFramePr>
          <p:cNvPr id="7" name="İçerik Yer Tutucusu 6"/>
          <p:cNvGraphicFramePr>
            <a:graphicFrameLocks noGrp="1"/>
          </p:cNvGraphicFramePr>
          <p:nvPr>
            <p:ph idx="1"/>
            <p:extLst>
              <p:ext uri="{D42A27DB-BD31-4B8C-83A1-F6EECF244321}">
                <p14:modId xmlns:p14="http://schemas.microsoft.com/office/powerpoint/2010/main" val="622345023"/>
              </p:ext>
            </p:extLst>
          </p:nvPr>
        </p:nvGraphicFramePr>
        <p:xfrm>
          <a:off x="3134957" y="1815996"/>
          <a:ext cx="5922085" cy="4529709"/>
        </p:xfrm>
        <a:graphic>
          <a:graphicData uri="http://schemas.openxmlformats.org/drawingml/2006/table">
            <a:tbl>
              <a:tblPr firstRow="1" firstCol="1" bandRow="1">
                <a:tableStyleId>{5C22544A-7EE6-4342-B048-85BDC9FD1C3A}</a:tableStyleId>
              </a:tblPr>
              <a:tblGrid>
                <a:gridCol w="1283615">
                  <a:extLst>
                    <a:ext uri="{9D8B030D-6E8A-4147-A177-3AD203B41FA5}">
                      <a16:colId xmlns:a16="http://schemas.microsoft.com/office/drawing/2014/main" val="3936263369"/>
                    </a:ext>
                  </a:extLst>
                </a:gridCol>
                <a:gridCol w="428275">
                  <a:extLst>
                    <a:ext uri="{9D8B030D-6E8A-4147-A177-3AD203B41FA5}">
                      <a16:colId xmlns:a16="http://schemas.microsoft.com/office/drawing/2014/main" val="3702164067"/>
                    </a:ext>
                  </a:extLst>
                </a:gridCol>
                <a:gridCol w="1025319">
                  <a:extLst>
                    <a:ext uri="{9D8B030D-6E8A-4147-A177-3AD203B41FA5}">
                      <a16:colId xmlns:a16="http://schemas.microsoft.com/office/drawing/2014/main" val="2674350519"/>
                    </a:ext>
                  </a:extLst>
                </a:gridCol>
                <a:gridCol w="771863">
                  <a:extLst>
                    <a:ext uri="{9D8B030D-6E8A-4147-A177-3AD203B41FA5}">
                      <a16:colId xmlns:a16="http://schemas.microsoft.com/office/drawing/2014/main" val="2572092669"/>
                    </a:ext>
                  </a:extLst>
                </a:gridCol>
                <a:gridCol w="857759">
                  <a:extLst>
                    <a:ext uri="{9D8B030D-6E8A-4147-A177-3AD203B41FA5}">
                      <a16:colId xmlns:a16="http://schemas.microsoft.com/office/drawing/2014/main" val="3014543564"/>
                    </a:ext>
                  </a:extLst>
                </a:gridCol>
                <a:gridCol w="771258">
                  <a:extLst>
                    <a:ext uri="{9D8B030D-6E8A-4147-A177-3AD203B41FA5}">
                      <a16:colId xmlns:a16="http://schemas.microsoft.com/office/drawing/2014/main" val="493592007"/>
                    </a:ext>
                  </a:extLst>
                </a:gridCol>
                <a:gridCol w="783996">
                  <a:extLst>
                    <a:ext uri="{9D8B030D-6E8A-4147-A177-3AD203B41FA5}">
                      <a16:colId xmlns:a16="http://schemas.microsoft.com/office/drawing/2014/main" val="781808386"/>
                    </a:ext>
                  </a:extLst>
                </a:gridCol>
              </a:tblGrid>
              <a:tr h="1087834">
                <a:tc>
                  <a:txBody>
                    <a:bodyPr/>
                    <a:lstStyle/>
                    <a:p>
                      <a:pPr>
                        <a:lnSpc>
                          <a:spcPct val="107000"/>
                        </a:lnSpc>
                        <a:spcAft>
                          <a:spcPts val="0"/>
                        </a:spcAft>
                      </a:pPr>
                      <a:r>
                        <a:rPr lang="tr-TR" sz="1000" dirty="0">
                          <a:effectLst/>
                        </a:rPr>
                        <a:t>1-AST-GNN: An </a:t>
                      </a:r>
                      <a:r>
                        <a:rPr lang="tr-TR" sz="1000" dirty="0" err="1">
                          <a:effectLst/>
                        </a:rPr>
                        <a:t>attention-based</a:t>
                      </a:r>
                      <a:r>
                        <a:rPr lang="tr-TR" sz="1000" dirty="0">
                          <a:effectLst/>
                        </a:rPr>
                        <a:t> </a:t>
                      </a:r>
                      <a:r>
                        <a:rPr lang="tr-TR" sz="1000" dirty="0" err="1">
                          <a:effectLst/>
                        </a:rPr>
                        <a:t>spatio-temporal</a:t>
                      </a:r>
                      <a:r>
                        <a:rPr lang="tr-TR" sz="1000" dirty="0">
                          <a:effectLst/>
                        </a:rPr>
                        <a:t> </a:t>
                      </a:r>
                      <a:r>
                        <a:rPr lang="tr-TR" sz="1000" dirty="0" err="1">
                          <a:effectLst/>
                        </a:rPr>
                        <a:t>graph</a:t>
                      </a:r>
                      <a:r>
                        <a:rPr lang="tr-TR" sz="1000" dirty="0">
                          <a:effectLst/>
                        </a:rPr>
                        <a:t> </a:t>
                      </a:r>
                      <a:r>
                        <a:rPr lang="tr-TR" sz="1000" dirty="0" err="1">
                          <a:effectLst/>
                        </a:rPr>
                        <a:t>neural</a:t>
                      </a:r>
                      <a:r>
                        <a:rPr lang="tr-TR" sz="1000" dirty="0">
                          <a:effectLst/>
                        </a:rPr>
                        <a:t> network </a:t>
                      </a:r>
                      <a:r>
                        <a:rPr lang="tr-TR" sz="1000" dirty="0" err="1">
                          <a:effectLst/>
                        </a:rPr>
                        <a:t>for</a:t>
                      </a:r>
                      <a:r>
                        <a:rPr lang="tr-TR" sz="1000" dirty="0">
                          <a:effectLst/>
                        </a:rPr>
                        <a:t> </a:t>
                      </a:r>
                      <a:r>
                        <a:rPr lang="tr-TR" sz="1000" dirty="0" err="1">
                          <a:effectLst/>
                        </a:rPr>
                        <a:t>Interaction-aware</a:t>
                      </a:r>
                      <a:r>
                        <a:rPr lang="tr-TR" sz="1000" dirty="0">
                          <a:effectLst/>
                        </a:rPr>
                        <a:t> </a:t>
                      </a:r>
                      <a:r>
                        <a:rPr lang="tr-TR" sz="1000" dirty="0" err="1">
                          <a:effectLst/>
                        </a:rPr>
                        <a:t>pedestrian</a:t>
                      </a:r>
                      <a:r>
                        <a:rPr lang="tr-TR" sz="1000" dirty="0">
                          <a:effectLst/>
                        </a:rPr>
                        <a:t> </a:t>
                      </a:r>
                      <a:r>
                        <a:rPr lang="tr-TR" sz="1000" dirty="0" err="1">
                          <a:effectLst/>
                        </a:rPr>
                        <a:t>trajectory</a:t>
                      </a:r>
                      <a:r>
                        <a:rPr lang="tr-TR" sz="1000" dirty="0">
                          <a:effectLst/>
                        </a:rPr>
                        <a:t> </a:t>
                      </a:r>
                      <a:r>
                        <a:rPr lang="tr-TR" sz="1000" dirty="0" err="1">
                          <a:effectLst/>
                        </a:rPr>
                        <a:t>prediction</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2021</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Yayalar için hareket modeli çıkarımı</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gn="r">
                        <a:lnSpc>
                          <a:spcPct val="107000"/>
                        </a:lnSpc>
                        <a:spcAft>
                          <a:spcPts val="0"/>
                        </a:spcAft>
                      </a:pPr>
                      <a:r>
                        <a:rPr lang="tr-TR" sz="1000">
                          <a:effectLst/>
                        </a:rPr>
                        <a:t>AST-GNN, Time-extrapolator CNN, Attention Mechanism</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ETH, HOTEL, UNIV, ZARA1, ZARA2, AVG</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ADE/FDE</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0,28/0,45</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extLst>
                  <a:ext uri="{0D108BD9-81ED-4DB2-BD59-A6C34878D82A}">
                    <a16:rowId xmlns:a16="http://schemas.microsoft.com/office/drawing/2014/main" val="2034346058"/>
                  </a:ext>
                </a:extLst>
              </a:tr>
              <a:tr h="777025">
                <a:tc>
                  <a:txBody>
                    <a:bodyPr/>
                    <a:lstStyle/>
                    <a:p>
                      <a:pPr>
                        <a:lnSpc>
                          <a:spcPct val="107000"/>
                        </a:lnSpc>
                        <a:spcAft>
                          <a:spcPts val="0"/>
                        </a:spcAft>
                      </a:pPr>
                      <a:r>
                        <a:rPr lang="tr-TR" sz="1000">
                          <a:effectLst/>
                        </a:rPr>
                        <a:t>2-Semi-decentralized Training of Spatio-Temporal Graph Neural Networks for Traffic Prediction</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2025</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Ortalama Hız Tespiti</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STGNN</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METR-LA ve </a:t>
                      </a:r>
                      <a:r>
                        <a:rPr lang="tr-TR" sz="1000" dirty="0" err="1">
                          <a:effectLst/>
                        </a:rPr>
                        <a:t>PeMS</a:t>
                      </a:r>
                      <a:r>
                        <a:rPr lang="tr-TR" sz="1000" dirty="0">
                          <a:effectLst/>
                        </a:rPr>
                        <a:t>-BAY</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MAE,RMSE,WMAPE</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1,48-3,09-2,38</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extLst>
                  <a:ext uri="{0D108BD9-81ED-4DB2-BD59-A6C34878D82A}">
                    <a16:rowId xmlns:a16="http://schemas.microsoft.com/office/drawing/2014/main" val="578908046"/>
                  </a:ext>
                </a:extLst>
              </a:tr>
              <a:tr h="932429">
                <a:tc>
                  <a:txBody>
                    <a:bodyPr/>
                    <a:lstStyle/>
                    <a:p>
                      <a:pPr>
                        <a:lnSpc>
                          <a:spcPct val="107000"/>
                        </a:lnSpc>
                        <a:spcAft>
                          <a:spcPts val="0"/>
                        </a:spcAft>
                      </a:pPr>
                      <a:r>
                        <a:rPr lang="tr-TR" sz="1000">
                          <a:effectLst/>
                        </a:rPr>
                        <a:t>3-STGC-GNNs: A GNN-based traffic prediction framework with a spatial–temporal Granger causality graph</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2023</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Trafiğin dinamik mekânsal bağımlılığının modellenmesi</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STGCN</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METR-LA</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MAE,MAPE,RMSE</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3,03-8,19-6,01</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extLst>
                  <a:ext uri="{0D108BD9-81ED-4DB2-BD59-A6C34878D82A}">
                    <a16:rowId xmlns:a16="http://schemas.microsoft.com/office/drawing/2014/main" val="2100326773"/>
                  </a:ext>
                </a:extLst>
              </a:tr>
              <a:tr h="777025">
                <a:tc>
                  <a:txBody>
                    <a:bodyPr/>
                    <a:lstStyle/>
                    <a:p>
                      <a:pPr>
                        <a:lnSpc>
                          <a:spcPct val="107000"/>
                        </a:lnSpc>
                        <a:spcAft>
                          <a:spcPts val="0"/>
                        </a:spcAft>
                      </a:pPr>
                      <a:r>
                        <a:rPr lang="tr-TR" sz="1000">
                          <a:effectLst/>
                        </a:rPr>
                        <a:t>4-A heterogeneous traffic spatio-temporal graph convolution model for traffic prediction</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2024</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Trafik yoğunluk tahmini</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HTSTGC,SGC,GGNN</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Pems03,Pems04,Pems08</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MAE,RMSE,MAPE,</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16,81-25,58-11,09</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extLst>
                  <a:ext uri="{0D108BD9-81ED-4DB2-BD59-A6C34878D82A}">
                    <a16:rowId xmlns:a16="http://schemas.microsoft.com/office/drawing/2014/main" val="3594042718"/>
                  </a:ext>
                </a:extLst>
              </a:tr>
              <a:tr h="777025">
                <a:tc>
                  <a:txBody>
                    <a:bodyPr/>
                    <a:lstStyle/>
                    <a:p>
                      <a:pPr>
                        <a:lnSpc>
                          <a:spcPct val="107000"/>
                        </a:lnSpc>
                        <a:spcAft>
                          <a:spcPts val="0"/>
                        </a:spcAft>
                      </a:pPr>
                      <a:r>
                        <a:rPr lang="tr-TR" sz="1000" dirty="0">
                          <a:effectLst/>
                        </a:rPr>
                        <a:t>5-Spatio-Temporal </a:t>
                      </a:r>
                      <a:r>
                        <a:rPr lang="tr-TR" sz="1000" dirty="0" err="1">
                          <a:effectLst/>
                        </a:rPr>
                        <a:t>Pivotal</a:t>
                      </a:r>
                      <a:r>
                        <a:rPr lang="tr-TR" sz="1000" dirty="0">
                          <a:effectLst/>
                        </a:rPr>
                        <a:t> </a:t>
                      </a:r>
                      <a:r>
                        <a:rPr lang="tr-TR" sz="1000" dirty="0" err="1">
                          <a:effectLst/>
                        </a:rPr>
                        <a:t>Graph</a:t>
                      </a:r>
                      <a:r>
                        <a:rPr lang="tr-TR" sz="1000" dirty="0">
                          <a:effectLst/>
                        </a:rPr>
                        <a:t> </a:t>
                      </a:r>
                      <a:r>
                        <a:rPr lang="tr-TR" sz="1000" dirty="0" err="1">
                          <a:effectLst/>
                        </a:rPr>
                        <a:t>Neural</a:t>
                      </a:r>
                      <a:r>
                        <a:rPr lang="tr-TR" sz="1000" dirty="0">
                          <a:effectLst/>
                        </a:rPr>
                        <a:t> Networks </a:t>
                      </a:r>
                      <a:r>
                        <a:rPr lang="tr-TR" sz="1000" dirty="0" err="1">
                          <a:effectLst/>
                        </a:rPr>
                        <a:t>for</a:t>
                      </a:r>
                      <a:r>
                        <a:rPr lang="tr-TR" sz="1000" dirty="0">
                          <a:effectLst/>
                        </a:rPr>
                        <a:t> </a:t>
                      </a:r>
                      <a:r>
                        <a:rPr lang="tr-TR" sz="1000" dirty="0" err="1">
                          <a:effectLst/>
                        </a:rPr>
                        <a:t>Traffic</a:t>
                      </a:r>
                      <a:r>
                        <a:rPr lang="tr-TR" sz="1000" dirty="0">
                          <a:effectLst/>
                        </a:rPr>
                        <a:t> </a:t>
                      </a:r>
                      <a:r>
                        <a:rPr lang="tr-TR" sz="1000" dirty="0" err="1">
                          <a:effectLst/>
                        </a:rPr>
                        <a:t>Flow</a:t>
                      </a:r>
                      <a:r>
                        <a:rPr lang="tr-TR" sz="1000" dirty="0">
                          <a:effectLst/>
                        </a:rPr>
                        <a:t> </a:t>
                      </a:r>
                      <a:r>
                        <a:rPr lang="tr-TR" sz="1000" dirty="0" err="1">
                          <a:effectLst/>
                        </a:rPr>
                        <a:t>Forecasting</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2024</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Trafik akış tahmini</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STPGNN</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Pems03,Pems04,Pems07,Pems08,England,TaxiBJ,PEMS-BAY</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a:effectLst/>
                        </a:rPr>
                        <a:t>MAE,MAPE,RMSE</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tc>
                  <a:txBody>
                    <a:bodyPr/>
                    <a:lstStyle/>
                    <a:p>
                      <a:pPr>
                        <a:lnSpc>
                          <a:spcPct val="107000"/>
                        </a:lnSpc>
                        <a:spcAft>
                          <a:spcPts val="0"/>
                        </a:spcAft>
                      </a:pPr>
                      <a:r>
                        <a:rPr lang="tr-TR" sz="1000" dirty="0">
                          <a:effectLst/>
                        </a:rPr>
                        <a:t>1,45-3,57-3,46</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5357" marR="65357" marT="0" marB="0"/>
                </a:tc>
                <a:extLst>
                  <a:ext uri="{0D108BD9-81ED-4DB2-BD59-A6C34878D82A}">
                    <a16:rowId xmlns:a16="http://schemas.microsoft.com/office/drawing/2014/main" val="1502080490"/>
                  </a:ext>
                </a:extLst>
              </a:tr>
            </a:tbl>
          </a:graphicData>
        </a:graphic>
      </p:graphicFrame>
      <p:graphicFrame>
        <p:nvGraphicFramePr>
          <p:cNvPr id="3" name="Tablo 2"/>
          <p:cNvGraphicFramePr>
            <a:graphicFrameLocks noGrp="1"/>
          </p:cNvGraphicFramePr>
          <p:nvPr>
            <p:extLst>
              <p:ext uri="{D42A27DB-BD31-4B8C-83A1-F6EECF244321}">
                <p14:modId xmlns:p14="http://schemas.microsoft.com/office/powerpoint/2010/main" val="2649302044"/>
              </p:ext>
            </p:extLst>
          </p:nvPr>
        </p:nvGraphicFramePr>
        <p:xfrm>
          <a:off x="3134957" y="1445156"/>
          <a:ext cx="5922084" cy="370840"/>
        </p:xfrm>
        <a:graphic>
          <a:graphicData uri="http://schemas.openxmlformats.org/drawingml/2006/table">
            <a:tbl>
              <a:tblPr firstRow="1" bandRow="1">
                <a:tableStyleId>{5C22544A-7EE6-4342-B048-85BDC9FD1C3A}</a:tableStyleId>
              </a:tblPr>
              <a:tblGrid>
                <a:gridCol w="1277245">
                  <a:extLst>
                    <a:ext uri="{9D8B030D-6E8A-4147-A177-3AD203B41FA5}">
                      <a16:colId xmlns:a16="http://schemas.microsoft.com/office/drawing/2014/main" val="1610029820"/>
                    </a:ext>
                  </a:extLst>
                </a:gridCol>
                <a:gridCol w="426128">
                  <a:extLst>
                    <a:ext uri="{9D8B030D-6E8A-4147-A177-3AD203B41FA5}">
                      <a16:colId xmlns:a16="http://schemas.microsoft.com/office/drawing/2014/main" val="158488678"/>
                    </a:ext>
                  </a:extLst>
                </a:gridCol>
                <a:gridCol w="1029810">
                  <a:extLst>
                    <a:ext uri="{9D8B030D-6E8A-4147-A177-3AD203B41FA5}">
                      <a16:colId xmlns:a16="http://schemas.microsoft.com/office/drawing/2014/main" val="2865576831"/>
                    </a:ext>
                  </a:extLst>
                </a:gridCol>
                <a:gridCol w="781235">
                  <a:extLst>
                    <a:ext uri="{9D8B030D-6E8A-4147-A177-3AD203B41FA5}">
                      <a16:colId xmlns:a16="http://schemas.microsoft.com/office/drawing/2014/main" val="2481991901"/>
                    </a:ext>
                  </a:extLst>
                </a:gridCol>
                <a:gridCol w="843378">
                  <a:extLst>
                    <a:ext uri="{9D8B030D-6E8A-4147-A177-3AD203B41FA5}">
                      <a16:colId xmlns:a16="http://schemas.microsoft.com/office/drawing/2014/main" val="1915672188"/>
                    </a:ext>
                  </a:extLst>
                </a:gridCol>
                <a:gridCol w="777109">
                  <a:extLst>
                    <a:ext uri="{9D8B030D-6E8A-4147-A177-3AD203B41FA5}">
                      <a16:colId xmlns:a16="http://schemas.microsoft.com/office/drawing/2014/main" val="197464757"/>
                    </a:ext>
                  </a:extLst>
                </a:gridCol>
                <a:gridCol w="787179">
                  <a:extLst>
                    <a:ext uri="{9D8B030D-6E8A-4147-A177-3AD203B41FA5}">
                      <a16:colId xmlns:a16="http://schemas.microsoft.com/office/drawing/2014/main" val="520641707"/>
                    </a:ext>
                  </a:extLst>
                </a:gridCol>
              </a:tblGrid>
              <a:tr h="370840">
                <a:tc>
                  <a:txBody>
                    <a:bodyPr/>
                    <a:lstStyle/>
                    <a:p>
                      <a:r>
                        <a:rPr lang="tr-TR" sz="1400" b="1" dirty="0"/>
                        <a:t>Yayın Adı</a:t>
                      </a:r>
                    </a:p>
                  </a:txBody>
                  <a:tcPr/>
                </a:tc>
                <a:tc>
                  <a:txBody>
                    <a:bodyPr/>
                    <a:lstStyle/>
                    <a:p>
                      <a:r>
                        <a:rPr lang="tr-TR" sz="1400" dirty="0"/>
                        <a:t>Yılı</a:t>
                      </a:r>
                      <a:endParaRPr lang="tr-TR" sz="1600" dirty="0"/>
                    </a:p>
                  </a:txBody>
                  <a:tcPr/>
                </a:tc>
                <a:tc>
                  <a:txBody>
                    <a:bodyPr/>
                    <a:lstStyle/>
                    <a:p>
                      <a:r>
                        <a:rPr lang="tr-TR" sz="1400" dirty="0"/>
                        <a:t>Uygulama</a:t>
                      </a:r>
                      <a:endParaRPr lang="tr-TR" dirty="0"/>
                    </a:p>
                  </a:txBody>
                  <a:tcPr/>
                </a:tc>
                <a:tc>
                  <a:txBody>
                    <a:bodyPr/>
                    <a:lstStyle/>
                    <a:p>
                      <a:r>
                        <a:rPr lang="tr-TR" sz="1400" dirty="0"/>
                        <a:t>Yöntem</a:t>
                      </a:r>
                    </a:p>
                  </a:txBody>
                  <a:tcPr/>
                </a:tc>
                <a:tc>
                  <a:txBody>
                    <a:bodyPr/>
                    <a:lstStyle/>
                    <a:p>
                      <a:r>
                        <a:rPr lang="tr-TR" sz="1400" dirty="0"/>
                        <a:t>Veri</a:t>
                      </a:r>
                      <a:r>
                        <a:rPr lang="tr-TR" sz="1400" baseline="0" dirty="0"/>
                        <a:t> Seti</a:t>
                      </a:r>
                      <a:endParaRPr lang="tr-TR" sz="1400" dirty="0"/>
                    </a:p>
                  </a:txBody>
                  <a:tcPr/>
                </a:tc>
                <a:tc>
                  <a:txBody>
                    <a:bodyPr/>
                    <a:lstStyle/>
                    <a:p>
                      <a:r>
                        <a:rPr lang="tr-TR" sz="1400" dirty="0"/>
                        <a:t>Metrik</a:t>
                      </a:r>
                    </a:p>
                  </a:txBody>
                  <a:tcPr/>
                </a:tc>
                <a:tc>
                  <a:txBody>
                    <a:bodyPr/>
                    <a:lstStyle/>
                    <a:p>
                      <a:r>
                        <a:rPr lang="tr-TR" sz="1400" dirty="0"/>
                        <a:t>Başarım</a:t>
                      </a:r>
                      <a:endParaRPr lang="tr-TR" sz="1100" dirty="0"/>
                    </a:p>
                  </a:txBody>
                  <a:tcPr/>
                </a:tc>
                <a:extLst>
                  <a:ext uri="{0D108BD9-81ED-4DB2-BD59-A6C34878D82A}">
                    <a16:rowId xmlns:a16="http://schemas.microsoft.com/office/drawing/2014/main" val="1316616926"/>
                  </a:ext>
                </a:extLst>
              </a:tr>
            </a:tbl>
          </a:graphicData>
        </a:graphic>
      </p:graphicFrame>
    </p:spTree>
    <p:extLst>
      <p:ext uri="{BB962C8B-B14F-4D97-AF65-F5344CB8AC3E}">
        <p14:creationId xmlns:p14="http://schemas.microsoft.com/office/powerpoint/2010/main" val="280589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Literatür Araştırması</a:t>
            </a:r>
          </a:p>
        </p:txBody>
      </p:sp>
      <p:graphicFrame>
        <p:nvGraphicFramePr>
          <p:cNvPr id="4" name="İçerik Yer Tutucusu 3"/>
          <p:cNvGraphicFramePr>
            <a:graphicFrameLocks noGrp="1"/>
          </p:cNvGraphicFramePr>
          <p:nvPr>
            <p:ph idx="1"/>
            <p:extLst>
              <p:ext uri="{D42A27DB-BD31-4B8C-83A1-F6EECF244321}">
                <p14:modId xmlns:p14="http://schemas.microsoft.com/office/powerpoint/2010/main" val="1287292787"/>
              </p:ext>
            </p:extLst>
          </p:nvPr>
        </p:nvGraphicFramePr>
        <p:xfrm>
          <a:off x="3376413" y="1473962"/>
          <a:ext cx="5439173" cy="5018913"/>
        </p:xfrm>
        <a:graphic>
          <a:graphicData uri="http://schemas.openxmlformats.org/drawingml/2006/table">
            <a:tbl>
              <a:tblPr firstRow="1" firstCol="1" bandRow="1">
                <a:tableStyleId>{5C22544A-7EE6-4342-B048-85BDC9FD1C3A}</a:tableStyleId>
              </a:tblPr>
              <a:tblGrid>
                <a:gridCol w="1198041">
                  <a:extLst>
                    <a:ext uri="{9D8B030D-6E8A-4147-A177-3AD203B41FA5}">
                      <a16:colId xmlns:a16="http://schemas.microsoft.com/office/drawing/2014/main" val="575330655"/>
                    </a:ext>
                  </a:extLst>
                </a:gridCol>
                <a:gridCol w="399723">
                  <a:extLst>
                    <a:ext uri="{9D8B030D-6E8A-4147-A177-3AD203B41FA5}">
                      <a16:colId xmlns:a16="http://schemas.microsoft.com/office/drawing/2014/main" val="3012848675"/>
                    </a:ext>
                  </a:extLst>
                </a:gridCol>
                <a:gridCol w="956964">
                  <a:extLst>
                    <a:ext uri="{9D8B030D-6E8A-4147-A177-3AD203B41FA5}">
                      <a16:colId xmlns:a16="http://schemas.microsoft.com/office/drawing/2014/main" val="3357498749"/>
                    </a:ext>
                  </a:extLst>
                </a:gridCol>
                <a:gridCol w="720406">
                  <a:extLst>
                    <a:ext uri="{9D8B030D-6E8A-4147-A177-3AD203B41FA5}">
                      <a16:colId xmlns:a16="http://schemas.microsoft.com/office/drawing/2014/main" val="1826035769"/>
                    </a:ext>
                  </a:extLst>
                </a:gridCol>
                <a:gridCol w="800576">
                  <a:extLst>
                    <a:ext uri="{9D8B030D-6E8A-4147-A177-3AD203B41FA5}">
                      <a16:colId xmlns:a16="http://schemas.microsoft.com/office/drawing/2014/main" val="1839847721"/>
                    </a:ext>
                  </a:extLst>
                </a:gridCol>
                <a:gridCol w="719841">
                  <a:extLst>
                    <a:ext uri="{9D8B030D-6E8A-4147-A177-3AD203B41FA5}">
                      <a16:colId xmlns:a16="http://schemas.microsoft.com/office/drawing/2014/main" val="1528527030"/>
                    </a:ext>
                  </a:extLst>
                </a:gridCol>
                <a:gridCol w="643622">
                  <a:extLst>
                    <a:ext uri="{9D8B030D-6E8A-4147-A177-3AD203B41FA5}">
                      <a16:colId xmlns:a16="http://schemas.microsoft.com/office/drawing/2014/main" val="781217574"/>
                    </a:ext>
                  </a:extLst>
                </a:gridCol>
              </a:tblGrid>
              <a:tr h="1015312">
                <a:tc>
                  <a:txBody>
                    <a:bodyPr/>
                    <a:lstStyle/>
                    <a:p>
                      <a:pPr>
                        <a:lnSpc>
                          <a:spcPct val="107000"/>
                        </a:lnSpc>
                        <a:spcAft>
                          <a:spcPts val="0"/>
                        </a:spcAft>
                      </a:pPr>
                      <a:r>
                        <a:rPr lang="tr-TR" sz="1000" dirty="0">
                          <a:effectLst/>
                        </a:rPr>
                        <a:t>6-SIMST: A GNN-FREE SPATIO-TEMPORAL LEARNING FRAMEWORK FOR TRAFFIC FORECASTING</a:t>
                      </a:r>
                      <a:endParaRPr lang="tr-TR"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2023</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Trafik yoğunluk tahmini</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SimST</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PeMSD4,PeMSD7,PeMSD8,LA,BAY</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MAE,RMSE,MAPE</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1,55-3,40-3,50</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extLst>
                  <a:ext uri="{0D108BD9-81ED-4DB2-BD59-A6C34878D82A}">
                    <a16:rowId xmlns:a16="http://schemas.microsoft.com/office/drawing/2014/main" val="4090432845"/>
                  </a:ext>
                </a:extLst>
              </a:tr>
              <a:tr h="1015312">
                <a:tc>
                  <a:txBody>
                    <a:bodyPr/>
                    <a:lstStyle/>
                    <a:p>
                      <a:pPr>
                        <a:lnSpc>
                          <a:spcPct val="107000"/>
                        </a:lnSpc>
                        <a:spcAft>
                          <a:spcPts val="0"/>
                        </a:spcAft>
                      </a:pPr>
                      <a:r>
                        <a:rPr lang="tr-TR" sz="1000">
                          <a:effectLst/>
                        </a:rPr>
                        <a:t>7-Spatiotemporal Factorized Graph Neural Networks for Joint Large-Scale Traffic Prediction and Online Pattern Recognition</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2025</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Trafik yoğunluk tahmini</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STF-GNN</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BART,HIGHWAY-ZJ,METR-LA,SUBWAY-MTA</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MAE,NRMSE</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2,703-0,093</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extLst>
                  <a:ext uri="{0D108BD9-81ED-4DB2-BD59-A6C34878D82A}">
                    <a16:rowId xmlns:a16="http://schemas.microsoft.com/office/drawing/2014/main" val="2191880436"/>
                  </a:ext>
                </a:extLst>
              </a:tr>
              <a:tr h="1015312">
                <a:tc>
                  <a:txBody>
                    <a:bodyPr/>
                    <a:lstStyle/>
                    <a:p>
                      <a:pPr>
                        <a:lnSpc>
                          <a:spcPct val="107000"/>
                        </a:lnSpc>
                        <a:spcAft>
                          <a:spcPts val="0"/>
                        </a:spcAft>
                      </a:pPr>
                      <a:r>
                        <a:rPr lang="tr-TR" sz="1000">
                          <a:effectLst/>
                        </a:rPr>
                        <a:t>8-Multi-factor embedding GNN-based traffic flow prediction considering intersection similarity</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2025</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Trafik akışı tahmini</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STGCN</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Qingdao traffic network intersection information collection system</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MAE,RMSE</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12,33-17,79</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extLst>
                  <a:ext uri="{0D108BD9-81ED-4DB2-BD59-A6C34878D82A}">
                    <a16:rowId xmlns:a16="http://schemas.microsoft.com/office/drawing/2014/main" val="4109059253"/>
                  </a:ext>
                </a:extLst>
              </a:tr>
              <a:tr h="580178">
                <a:tc>
                  <a:txBody>
                    <a:bodyPr/>
                    <a:lstStyle/>
                    <a:p>
                      <a:pPr>
                        <a:lnSpc>
                          <a:spcPct val="107000"/>
                        </a:lnSpc>
                        <a:spcAft>
                          <a:spcPts val="0"/>
                        </a:spcAft>
                      </a:pPr>
                      <a:r>
                        <a:rPr lang="tr-TR" sz="1000">
                          <a:effectLst/>
                        </a:rPr>
                        <a:t>9-Adaptive spatio-temporal graph neural network for traffic forecasting</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2022</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Trafik yoğunluk tahmini</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Ada-STNet</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METR-LA,PEMS-BAY</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MAE,RMSE,MAPE</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1,30-2,73-2,7</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extLst>
                  <a:ext uri="{0D108BD9-81ED-4DB2-BD59-A6C34878D82A}">
                    <a16:rowId xmlns:a16="http://schemas.microsoft.com/office/drawing/2014/main" val="1183044138"/>
                  </a:ext>
                </a:extLst>
              </a:tr>
              <a:tr h="725223">
                <a:tc>
                  <a:txBody>
                    <a:bodyPr/>
                    <a:lstStyle/>
                    <a:p>
                      <a:pPr>
                        <a:lnSpc>
                          <a:spcPct val="107000"/>
                        </a:lnSpc>
                        <a:spcAft>
                          <a:spcPts val="0"/>
                        </a:spcAft>
                      </a:pPr>
                      <a:r>
                        <a:rPr lang="tr-TR" sz="1000">
                          <a:effectLst/>
                        </a:rPr>
                        <a:t>10-MST‑GNN: graph neural network with multi‑granularity in space and time for traffic prediction</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2025</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Trafik yoğunluk tahmini</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MST-GNN</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PeMSD04-PeMSD08</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a:effectLst/>
                        </a:rPr>
                        <a:t>MAPE,MAE,RMSE</a:t>
                      </a:r>
                      <a:endParaRPr lang="tr-TR" sz="105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tc>
                  <a:txBody>
                    <a:bodyPr/>
                    <a:lstStyle/>
                    <a:p>
                      <a:pPr>
                        <a:lnSpc>
                          <a:spcPct val="107000"/>
                        </a:lnSpc>
                        <a:spcAft>
                          <a:spcPts val="0"/>
                        </a:spcAft>
                      </a:pPr>
                      <a:r>
                        <a:rPr lang="tr-TR" sz="1000" dirty="0">
                          <a:effectLst/>
                        </a:rPr>
                        <a:t>0,097-14,25-22,92</a:t>
                      </a:r>
                      <a:endParaRPr lang="tr-TR"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1000" marR="61000" marT="0" marB="0"/>
                </a:tc>
                <a:extLst>
                  <a:ext uri="{0D108BD9-81ED-4DB2-BD59-A6C34878D82A}">
                    <a16:rowId xmlns:a16="http://schemas.microsoft.com/office/drawing/2014/main" val="3045420250"/>
                  </a:ext>
                </a:extLst>
              </a:tr>
            </a:tbl>
          </a:graphicData>
        </a:graphic>
      </p:graphicFrame>
    </p:spTree>
    <p:extLst>
      <p:ext uri="{BB962C8B-B14F-4D97-AF65-F5344CB8AC3E}">
        <p14:creationId xmlns:p14="http://schemas.microsoft.com/office/powerpoint/2010/main" val="32878271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Literatür Araştırması</a:t>
            </a:r>
          </a:p>
        </p:txBody>
      </p:sp>
      <p:graphicFrame>
        <p:nvGraphicFramePr>
          <p:cNvPr id="4" name="İçerik Yer Tutucusu 3"/>
          <p:cNvGraphicFramePr>
            <a:graphicFrameLocks noGrp="1"/>
          </p:cNvGraphicFramePr>
          <p:nvPr>
            <p:ph idx="1"/>
            <p:extLst>
              <p:ext uri="{D42A27DB-BD31-4B8C-83A1-F6EECF244321}">
                <p14:modId xmlns:p14="http://schemas.microsoft.com/office/powerpoint/2010/main" val="3203690534"/>
              </p:ext>
            </p:extLst>
          </p:nvPr>
        </p:nvGraphicFramePr>
        <p:xfrm>
          <a:off x="3074237" y="1690688"/>
          <a:ext cx="6043525" cy="4366641"/>
        </p:xfrm>
        <a:graphic>
          <a:graphicData uri="http://schemas.openxmlformats.org/drawingml/2006/table">
            <a:tbl>
              <a:tblPr firstRow="1" firstCol="1" bandRow="1">
                <a:tableStyleId>{5C22544A-7EE6-4342-B048-85BDC9FD1C3A}</a:tableStyleId>
              </a:tblPr>
              <a:tblGrid>
                <a:gridCol w="1331157">
                  <a:extLst>
                    <a:ext uri="{9D8B030D-6E8A-4147-A177-3AD203B41FA5}">
                      <a16:colId xmlns:a16="http://schemas.microsoft.com/office/drawing/2014/main" val="419764581"/>
                    </a:ext>
                  </a:extLst>
                </a:gridCol>
                <a:gridCol w="444137">
                  <a:extLst>
                    <a:ext uri="{9D8B030D-6E8A-4147-A177-3AD203B41FA5}">
                      <a16:colId xmlns:a16="http://schemas.microsoft.com/office/drawing/2014/main" val="1778349848"/>
                    </a:ext>
                  </a:extLst>
                </a:gridCol>
                <a:gridCol w="1063294">
                  <a:extLst>
                    <a:ext uri="{9D8B030D-6E8A-4147-A177-3AD203B41FA5}">
                      <a16:colId xmlns:a16="http://schemas.microsoft.com/office/drawing/2014/main" val="717997179"/>
                    </a:ext>
                  </a:extLst>
                </a:gridCol>
                <a:gridCol w="800451">
                  <a:extLst>
                    <a:ext uri="{9D8B030D-6E8A-4147-A177-3AD203B41FA5}">
                      <a16:colId xmlns:a16="http://schemas.microsoft.com/office/drawing/2014/main" val="4049542154"/>
                    </a:ext>
                  </a:extLst>
                </a:gridCol>
                <a:gridCol w="889528">
                  <a:extLst>
                    <a:ext uri="{9D8B030D-6E8A-4147-A177-3AD203B41FA5}">
                      <a16:colId xmlns:a16="http://schemas.microsoft.com/office/drawing/2014/main" val="3763475750"/>
                    </a:ext>
                  </a:extLst>
                </a:gridCol>
                <a:gridCol w="799823">
                  <a:extLst>
                    <a:ext uri="{9D8B030D-6E8A-4147-A177-3AD203B41FA5}">
                      <a16:colId xmlns:a16="http://schemas.microsoft.com/office/drawing/2014/main" val="2448849945"/>
                    </a:ext>
                  </a:extLst>
                </a:gridCol>
                <a:gridCol w="715135">
                  <a:extLst>
                    <a:ext uri="{9D8B030D-6E8A-4147-A177-3AD203B41FA5}">
                      <a16:colId xmlns:a16="http://schemas.microsoft.com/office/drawing/2014/main" val="1059543135"/>
                    </a:ext>
                  </a:extLst>
                </a:gridCol>
              </a:tblGrid>
              <a:tr h="644643">
                <a:tc>
                  <a:txBody>
                    <a:bodyPr/>
                    <a:lstStyle/>
                    <a:p>
                      <a:pPr>
                        <a:lnSpc>
                          <a:spcPct val="107000"/>
                        </a:lnSpc>
                        <a:spcAft>
                          <a:spcPts val="0"/>
                        </a:spcAft>
                      </a:pPr>
                      <a:r>
                        <a:rPr lang="tr-TR" sz="1000">
                          <a:effectLst/>
                        </a:rPr>
                        <a:t>11-Efficient traffic prediction through spatio-temporal distillation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2025</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Trafik akış tahmini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LightST</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PeMS-Bay,PeMSD3,PeMSD4,PeMSD7,PeMSD8</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MAE,RMSE,MAPE</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1,78-3,88-4,15</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extLst>
                  <a:ext uri="{0D108BD9-81ED-4DB2-BD59-A6C34878D82A}">
                    <a16:rowId xmlns:a16="http://schemas.microsoft.com/office/drawing/2014/main" val="2408316034"/>
                  </a:ext>
                </a:extLst>
              </a:tr>
              <a:tr h="805803">
                <a:tc>
                  <a:txBody>
                    <a:bodyPr/>
                    <a:lstStyle/>
                    <a:p>
                      <a:pPr>
                        <a:lnSpc>
                          <a:spcPct val="107000"/>
                        </a:lnSpc>
                        <a:spcAft>
                          <a:spcPts val="0"/>
                        </a:spcAft>
                      </a:pPr>
                      <a:r>
                        <a:rPr lang="tr-TR" sz="1000">
                          <a:effectLst/>
                        </a:rPr>
                        <a:t>12-An adaptive traffic flow prediction model based on spatiotemporal graph neural network</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2023</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Trafik akış tahmini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dirty="0">
                          <a:effectLst/>
                        </a:rPr>
                        <a:t>AD-GNN</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PeMSD4, PeMSD8 ve 2020-CCF spatiotemporal training</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MAE,RMSE,MAPE</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4,94-5,88-12,86</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extLst>
                  <a:ext uri="{0D108BD9-81ED-4DB2-BD59-A6C34878D82A}">
                    <a16:rowId xmlns:a16="http://schemas.microsoft.com/office/drawing/2014/main" val="372662357"/>
                  </a:ext>
                </a:extLst>
              </a:tr>
              <a:tr h="1128125">
                <a:tc>
                  <a:txBody>
                    <a:bodyPr/>
                    <a:lstStyle/>
                    <a:p>
                      <a:pPr>
                        <a:lnSpc>
                          <a:spcPct val="107000"/>
                        </a:lnSpc>
                        <a:spcAft>
                          <a:spcPts val="0"/>
                        </a:spcAft>
                      </a:pPr>
                      <a:r>
                        <a:rPr lang="tr-TR" sz="1000" dirty="0">
                          <a:effectLst/>
                        </a:rPr>
                        <a:t>13- </a:t>
                      </a:r>
                      <a:r>
                        <a:rPr lang="tr-TR" sz="1000" dirty="0" err="1">
                          <a:effectLst/>
                        </a:rPr>
                        <a:t>Privacy-Preserving</a:t>
                      </a:r>
                      <a:r>
                        <a:rPr lang="tr-TR" sz="1000" dirty="0">
                          <a:effectLst/>
                        </a:rPr>
                        <a:t> Cross-</a:t>
                      </a:r>
                      <a:r>
                        <a:rPr lang="tr-TR" sz="1000" dirty="0" err="1">
                          <a:effectLst/>
                        </a:rPr>
                        <a:t>Area</a:t>
                      </a:r>
                      <a:r>
                        <a:rPr lang="tr-TR" sz="1000" dirty="0">
                          <a:effectLst/>
                        </a:rPr>
                        <a:t> </a:t>
                      </a:r>
                      <a:r>
                        <a:rPr lang="tr-TR" sz="1000" dirty="0" err="1">
                          <a:effectLst/>
                        </a:rPr>
                        <a:t>Traffic</a:t>
                      </a:r>
                      <a:r>
                        <a:rPr lang="tr-TR" sz="1000" dirty="0">
                          <a:effectLst/>
                        </a:rPr>
                        <a:t> </a:t>
                      </a:r>
                      <a:r>
                        <a:rPr lang="tr-TR" sz="1000" dirty="0" err="1">
                          <a:effectLst/>
                        </a:rPr>
                        <a:t>Forecasting</a:t>
                      </a:r>
                      <a:r>
                        <a:rPr lang="tr-TR" sz="1000" dirty="0">
                          <a:effectLst/>
                        </a:rPr>
                        <a:t> in ITS: A </a:t>
                      </a:r>
                      <a:r>
                        <a:rPr lang="tr-TR" sz="1000" dirty="0" err="1">
                          <a:effectLst/>
                        </a:rPr>
                        <a:t>Transferable</a:t>
                      </a:r>
                      <a:r>
                        <a:rPr lang="tr-TR" sz="1000" dirty="0">
                          <a:effectLst/>
                        </a:rPr>
                        <a:t> </a:t>
                      </a:r>
                      <a:r>
                        <a:rPr lang="tr-TR" sz="1000" dirty="0" err="1">
                          <a:effectLst/>
                        </a:rPr>
                        <a:t>Spatial</a:t>
                      </a:r>
                      <a:r>
                        <a:rPr lang="tr-TR" sz="1000" dirty="0">
                          <a:effectLst/>
                        </a:rPr>
                        <a:t>-Temporal </a:t>
                      </a:r>
                      <a:r>
                        <a:rPr lang="tr-TR" sz="1000" dirty="0" err="1">
                          <a:effectLst/>
                        </a:rPr>
                        <a:t>Graph</a:t>
                      </a:r>
                      <a:r>
                        <a:rPr lang="tr-TR" sz="1000" dirty="0">
                          <a:effectLst/>
                        </a:rPr>
                        <a:t> </a:t>
                      </a:r>
                      <a:r>
                        <a:rPr lang="tr-TR" sz="1000" dirty="0" err="1">
                          <a:effectLst/>
                        </a:rPr>
                        <a:t>Neural</a:t>
                      </a:r>
                      <a:r>
                        <a:rPr lang="tr-TR" sz="1000" dirty="0">
                          <a:effectLst/>
                        </a:rPr>
                        <a:t> Network </a:t>
                      </a:r>
                      <a:r>
                        <a:rPr lang="tr-TR" sz="1000" dirty="0" err="1">
                          <a:effectLst/>
                        </a:rPr>
                        <a:t>Approach</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2023</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Trafik yoğunluk tahmini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T-ISTGNN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PeMSD4,PeMSD7,PeMSD8</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MAE,RMSE,MAPE</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2,76-4,25-6,74</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extLst>
                  <a:ext uri="{0D108BD9-81ED-4DB2-BD59-A6C34878D82A}">
                    <a16:rowId xmlns:a16="http://schemas.microsoft.com/office/drawing/2014/main" val="4075284683"/>
                  </a:ext>
                </a:extLst>
              </a:tr>
              <a:tr h="805803">
                <a:tc>
                  <a:txBody>
                    <a:bodyPr/>
                    <a:lstStyle/>
                    <a:p>
                      <a:pPr>
                        <a:lnSpc>
                          <a:spcPct val="107000"/>
                        </a:lnSpc>
                        <a:spcAft>
                          <a:spcPts val="0"/>
                        </a:spcAft>
                      </a:pPr>
                      <a:r>
                        <a:rPr lang="tr-TR" sz="1000">
                          <a:effectLst/>
                        </a:rPr>
                        <a:t>14- Hierarchical spatio-temporal graph convolutional neural networks for traffic data imputation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2024</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Trafik yoğunluk tahmini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HSTGCN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Seattle,PeMS-BAY</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MAE,RMSE,MAPE</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0,64-1,2-1,44</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extLst>
                  <a:ext uri="{0D108BD9-81ED-4DB2-BD59-A6C34878D82A}">
                    <a16:rowId xmlns:a16="http://schemas.microsoft.com/office/drawing/2014/main" val="824684848"/>
                  </a:ext>
                </a:extLst>
              </a:tr>
              <a:tr h="966964">
                <a:tc>
                  <a:txBody>
                    <a:bodyPr/>
                    <a:lstStyle/>
                    <a:p>
                      <a:pPr>
                        <a:lnSpc>
                          <a:spcPct val="107000"/>
                        </a:lnSpc>
                        <a:spcAft>
                          <a:spcPts val="0"/>
                        </a:spcAft>
                      </a:pPr>
                      <a:r>
                        <a:rPr lang="tr-TR" sz="1000">
                          <a:effectLst/>
                        </a:rPr>
                        <a:t>15-ISTGCN: Integrated spatio-temporal modeling for traffic prediction using traffic graph convolution network</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2023</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Trafik yoğunluk tahmini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ISTGCN</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PeMSD4,PeMSD8,METR-LA</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a:effectLst/>
                        </a:rPr>
                        <a:t>RMSE,MAE,MAPE</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tc>
                  <a:txBody>
                    <a:bodyPr/>
                    <a:lstStyle/>
                    <a:p>
                      <a:pPr>
                        <a:lnSpc>
                          <a:spcPct val="107000"/>
                        </a:lnSpc>
                        <a:spcAft>
                          <a:spcPts val="0"/>
                        </a:spcAft>
                      </a:pPr>
                      <a:r>
                        <a:rPr lang="tr-TR" sz="1000" dirty="0">
                          <a:effectLst/>
                        </a:rPr>
                        <a:t>1,09-2,08-1,97</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778" marR="67778" marT="0" marB="0"/>
                </a:tc>
                <a:extLst>
                  <a:ext uri="{0D108BD9-81ED-4DB2-BD59-A6C34878D82A}">
                    <a16:rowId xmlns:a16="http://schemas.microsoft.com/office/drawing/2014/main" val="3969867354"/>
                  </a:ext>
                </a:extLst>
              </a:tr>
            </a:tbl>
          </a:graphicData>
        </a:graphic>
      </p:graphicFrame>
    </p:spTree>
    <p:extLst>
      <p:ext uri="{BB962C8B-B14F-4D97-AF65-F5344CB8AC3E}">
        <p14:creationId xmlns:p14="http://schemas.microsoft.com/office/powerpoint/2010/main" val="1121629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Veri Setleri</a:t>
            </a:r>
          </a:p>
        </p:txBody>
      </p:sp>
      <p:graphicFrame>
        <p:nvGraphicFramePr>
          <p:cNvPr id="5" name="İçerik Yer Tutucusu 4"/>
          <p:cNvGraphicFramePr>
            <a:graphicFrameLocks noGrp="1"/>
          </p:cNvGraphicFramePr>
          <p:nvPr>
            <p:ph idx="1"/>
            <p:extLst>
              <p:ext uri="{D42A27DB-BD31-4B8C-83A1-F6EECF244321}">
                <p14:modId xmlns:p14="http://schemas.microsoft.com/office/powerpoint/2010/main" val="791757502"/>
              </p:ext>
            </p:extLst>
          </p:nvPr>
        </p:nvGraphicFramePr>
        <p:xfrm>
          <a:off x="3450396" y="1237229"/>
          <a:ext cx="4655104" cy="5397311"/>
        </p:xfrm>
        <a:graphic>
          <a:graphicData uri="http://schemas.openxmlformats.org/drawingml/2006/table">
            <a:tbl>
              <a:tblPr firstRow="1" firstCol="1" bandRow="1">
                <a:tableStyleId>{5C22544A-7EE6-4342-B048-85BDC9FD1C3A}</a:tableStyleId>
              </a:tblPr>
              <a:tblGrid>
                <a:gridCol w="720946">
                  <a:extLst>
                    <a:ext uri="{9D8B030D-6E8A-4147-A177-3AD203B41FA5}">
                      <a16:colId xmlns:a16="http://schemas.microsoft.com/office/drawing/2014/main" val="606033600"/>
                    </a:ext>
                  </a:extLst>
                </a:gridCol>
                <a:gridCol w="1381343">
                  <a:extLst>
                    <a:ext uri="{9D8B030D-6E8A-4147-A177-3AD203B41FA5}">
                      <a16:colId xmlns:a16="http://schemas.microsoft.com/office/drawing/2014/main" val="1282242744"/>
                    </a:ext>
                  </a:extLst>
                </a:gridCol>
                <a:gridCol w="584967">
                  <a:extLst>
                    <a:ext uri="{9D8B030D-6E8A-4147-A177-3AD203B41FA5}">
                      <a16:colId xmlns:a16="http://schemas.microsoft.com/office/drawing/2014/main" val="1344632790"/>
                    </a:ext>
                  </a:extLst>
                </a:gridCol>
                <a:gridCol w="491064">
                  <a:extLst>
                    <a:ext uri="{9D8B030D-6E8A-4147-A177-3AD203B41FA5}">
                      <a16:colId xmlns:a16="http://schemas.microsoft.com/office/drawing/2014/main" val="2379572798"/>
                    </a:ext>
                  </a:extLst>
                </a:gridCol>
                <a:gridCol w="633714">
                  <a:extLst>
                    <a:ext uri="{9D8B030D-6E8A-4147-A177-3AD203B41FA5}">
                      <a16:colId xmlns:a16="http://schemas.microsoft.com/office/drawing/2014/main" val="3419502311"/>
                    </a:ext>
                  </a:extLst>
                </a:gridCol>
                <a:gridCol w="350980">
                  <a:extLst>
                    <a:ext uri="{9D8B030D-6E8A-4147-A177-3AD203B41FA5}">
                      <a16:colId xmlns:a16="http://schemas.microsoft.com/office/drawing/2014/main" val="1471332662"/>
                    </a:ext>
                  </a:extLst>
                </a:gridCol>
                <a:gridCol w="492090">
                  <a:extLst>
                    <a:ext uri="{9D8B030D-6E8A-4147-A177-3AD203B41FA5}">
                      <a16:colId xmlns:a16="http://schemas.microsoft.com/office/drawing/2014/main" val="4254881532"/>
                    </a:ext>
                  </a:extLst>
                </a:gridCol>
              </a:tblGrid>
              <a:tr h="263717">
                <a:tc>
                  <a:txBody>
                    <a:bodyPr/>
                    <a:lstStyle/>
                    <a:p>
                      <a:pPr>
                        <a:lnSpc>
                          <a:spcPct val="107000"/>
                        </a:lnSpc>
                        <a:spcAft>
                          <a:spcPts val="0"/>
                        </a:spcAft>
                      </a:pPr>
                      <a:r>
                        <a:rPr lang="tr-TR" sz="900">
                          <a:effectLst/>
                        </a:rPr>
                        <a:t>Dataset</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dirty="0" err="1">
                          <a:effectLst/>
                        </a:rPr>
                        <a:t>Features</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Düğümler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Kenarlar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Zaman Pencereleri</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Year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Country</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extLst>
                  <a:ext uri="{0D108BD9-81ED-4DB2-BD59-A6C34878D82A}">
                    <a16:rowId xmlns:a16="http://schemas.microsoft.com/office/drawing/2014/main" val="3124202711"/>
                  </a:ext>
                </a:extLst>
              </a:tr>
              <a:tr h="923011">
                <a:tc>
                  <a:txBody>
                    <a:bodyPr/>
                    <a:lstStyle/>
                    <a:p>
                      <a:pPr>
                        <a:lnSpc>
                          <a:spcPct val="107000"/>
                        </a:lnSpc>
                        <a:spcAft>
                          <a:spcPts val="0"/>
                        </a:spcAft>
                      </a:pPr>
                      <a:r>
                        <a:rPr lang="tr-TR" sz="900">
                          <a:effectLst/>
                        </a:rPr>
                        <a:t>METR-LA</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1 Mart 2012'den 30 Haziran 2012'ye kadar olan dört aylık trafik hızı istatistiklerini kaydeder; bu istatistiklere Los Angeles County'deki karayollarındaki 207 sensör de dahildir.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207</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dirty="0">
                          <a:effectLst/>
                        </a:rPr>
                        <a:t>1515</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dirty="0">
                          <a:effectLst/>
                        </a:rPr>
                        <a:t>34727</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2012</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ABD</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extLst>
                  <a:ext uri="{0D108BD9-81ED-4DB2-BD59-A6C34878D82A}">
                    <a16:rowId xmlns:a16="http://schemas.microsoft.com/office/drawing/2014/main" val="1674181358"/>
                  </a:ext>
                </a:extLst>
              </a:tr>
              <a:tr h="923011">
                <a:tc>
                  <a:txBody>
                    <a:bodyPr/>
                    <a:lstStyle/>
                    <a:p>
                      <a:pPr>
                        <a:lnSpc>
                          <a:spcPct val="107000"/>
                        </a:lnSpc>
                        <a:spcAft>
                          <a:spcPts val="0"/>
                        </a:spcAft>
                      </a:pPr>
                      <a:r>
                        <a:rPr lang="tr-TR" sz="900">
                          <a:effectLst/>
                        </a:rPr>
                        <a:t>PEMS-BAY</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dirty="0">
                          <a:effectLst/>
                        </a:rPr>
                        <a:t>1 Ocak 2017'den 30 Haziran 2017'ye kadar olan dönemi kapsayan, Körfez bölgesindeki 325 </a:t>
                      </a:r>
                      <a:r>
                        <a:rPr lang="tr-TR" sz="900" dirty="0" err="1">
                          <a:effectLst/>
                        </a:rPr>
                        <a:t>sensörü</a:t>
                      </a:r>
                      <a:r>
                        <a:rPr lang="tr-TR" sz="900" dirty="0">
                          <a:effectLst/>
                        </a:rPr>
                        <a:t> de içeren, trafik hızına ilişkin altı aylık istatistikleri içermektedir.</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325</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2369</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52116</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2017</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ABD</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extLst>
                  <a:ext uri="{0D108BD9-81ED-4DB2-BD59-A6C34878D82A}">
                    <a16:rowId xmlns:a16="http://schemas.microsoft.com/office/drawing/2014/main" val="3837141301"/>
                  </a:ext>
                </a:extLst>
              </a:tr>
              <a:tr h="1186729">
                <a:tc>
                  <a:txBody>
                    <a:bodyPr/>
                    <a:lstStyle/>
                    <a:p>
                      <a:pPr>
                        <a:lnSpc>
                          <a:spcPct val="107000"/>
                        </a:lnSpc>
                        <a:spcAft>
                          <a:spcPts val="0"/>
                        </a:spcAft>
                      </a:pPr>
                      <a:r>
                        <a:rPr lang="tr-TR" sz="900">
                          <a:effectLst/>
                        </a:rPr>
                        <a:t>PeMSD3 dataset</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California Department of Transportation’un “Performance Monitoring System” (PeMS) sisteminden alınan sensör verilerine dayanır. Veri kümesi, bir trafik ağındaki düğümler ve bu sensörlerden periyodik olarak alınan ölçümleri içerir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358</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547</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26000</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2018</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ABD</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extLst>
                  <a:ext uri="{0D108BD9-81ED-4DB2-BD59-A6C34878D82A}">
                    <a16:rowId xmlns:a16="http://schemas.microsoft.com/office/drawing/2014/main" val="2080684421"/>
                  </a:ext>
                </a:extLst>
              </a:tr>
              <a:tr h="1054870">
                <a:tc>
                  <a:txBody>
                    <a:bodyPr/>
                    <a:lstStyle/>
                    <a:p>
                      <a:pPr>
                        <a:lnSpc>
                          <a:spcPct val="107000"/>
                        </a:lnSpc>
                        <a:spcAft>
                          <a:spcPts val="0"/>
                        </a:spcAft>
                      </a:pPr>
                      <a:r>
                        <a:rPr lang="tr-TR" sz="900">
                          <a:effectLst/>
                        </a:rPr>
                        <a:t>PeMSD4 dataset</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1 Ocak 2018'den 28 Şubat 2018'e kadardır ve 307 San Francisco Körfez Bölgesi trafik sensöründen alınan trafik akışı verilerini içerir. Trafik akışı, şerit doluluk oranı ve ortalama hızdan oluşan üç dizi içerir.</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307</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340</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17000</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a:effectLst/>
                        </a:rPr>
                        <a:t>2018</a:t>
                      </a:r>
                      <a:endParaRPr lang="tr-TR" sz="100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tc>
                  <a:txBody>
                    <a:bodyPr/>
                    <a:lstStyle/>
                    <a:p>
                      <a:pPr>
                        <a:lnSpc>
                          <a:spcPct val="107000"/>
                        </a:lnSpc>
                        <a:spcAft>
                          <a:spcPts val="0"/>
                        </a:spcAft>
                      </a:pPr>
                      <a:r>
                        <a:rPr lang="tr-TR" sz="900" dirty="0">
                          <a:effectLst/>
                        </a:rPr>
                        <a:t>ABD</a:t>
                      </a:r>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55455" marR="55455" marT="0" marB="0"/>
                </a:tc>
                <a:extLst>
                  <a:ext uri="{0D108BD9-81ED-4DB2-BD59-A6C34878D82A}">
                    <a16:rowId xmlns:a16="http://schemas.microsoft.com/office/drawing/2014/main" val="2927888849"/>
                  </a:ext>
                </a:extLst>
              </a:tr>
            </a:tbl>
          </a:graphicData>
        </a:graphic>
      </p:graphicFrame>
    </p:spTree>
    <p:extLst>
      <p:ext uri="{BB962C8B-B14F-4D97-AF65-F5344CB8AC3E}">
        <p14:creationId xmlns:p14="http://schemas.microsoft.com/office/powerpoint/2010/main" val="3611737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Veri Setleri</a:t>
            </a:r>
          </a:p>
        </p:txBody>
      </p:sp>
      <p:graphicFrame>
        <p:nvGraphicFramePr>
          <p:cNvPr id="4" name="İçerik Yer Tutucusu 3"/>
          <p:cNvGraphicFramePr>
            <a:graphicFrameLocks noGrp="1"/>
          </p:cNvGraphicFramePr>
          <p:nvPr>
            <p:ph idx="1"/>
            <p:extLst>
              <p:ext uri="{D42A27DB-BD31-4B8C-83A1-F6EECF244321}">
                <p14:modId xmlns:p14="http://schemas.microsoft.com/office/powerpoint/2010/main" val="1465670871"/>
              </p:ext>
            </p:extLst>
          </p:nvPr>
        </p:nvGraphicFramePr>
        <p:xfrm>
          <a:off x="3562185" y="1332644"/>
          <a:ext cx="4444779" cy="5194300"/>
        </p:xfrm>
        <a:graphic>
          <a:graphicData uri="http://schemas.openxmlformats.org/drawingml/2006/table">
            <a:tbl>
              <a:tblPr firstRow="1" firstCol="1" bandRow="1">
                <a:tableStyleId>{5C22544A-7EE6-4342-B048-85BDC9FD1C3A}</a:tableStyleId>
              </a:tblPr>
              <a:tblGrid>
                <a:gridCol w="899762">
                  <a:extLst>
                    <a:ext uri="{9D8B030D-6E8A-4147-A177-3AD203B41FA5}">
                      <a16:colId xmlns:a16="http://schemas.microsoft.com/office/drawing/2014/main" val="1182281240"/>
                    </a:ext>
                  </a:extLst>
                </a:gridCol>
                <a:gridCol w="1244709">
                  <a:extLst>
                    <a:ext uri="{9D8B030D-6E8A-4147-A177-3AD203B41FA5}">
                      <a16:colId xmlns:a16="http://schemas.microsoft.com/office/drawing/2014/main" val="5904508"/>
                    </a:ext>
                  </a:extLst>
                </a:gridCol>
                <a:gridCol w="527105">
                  <a:extLst>
                    <a:ext uri="{9D8B030D-6E8A-4147-A177-3AD203B41FA5}">
                      <a16:colId xmlns:a16="http://schemas.microsoft.com/office/drawing/2014/main" val="137223264"/>
                    </a:ext>
                  </a:extLst>
                </a:gridCol>
                <a:gridCol w="442492">
                  <a:extLst>
                    <a:ext uri="{9D8B030D-6E8A-4147-A177-3AD203B41FA5}">
                      <a16:colId xmlns:a16="http://schemas.microsoft.com/office/drawing/2014/main" val="2194684324"/>
                    </a:ext>
                  </a:extLst>
                </a:gridCol>
                <a:gridCol w="571031">
                  <a:extLst>
                    <a:ext uri="{9D8B030D-6E8A-4147-A177-3AD203B41FA5}">
                      <a16:colId xmlns:a16="http://schemas.microsoft.com/office/drawing/2014/main" val="223891661"/>
                    </a:ext>
                  </a:extLst>
                </a:gridCol>
                <a:gridCol w="316264">
                  <a:extLst>
                    <a:ext uri="{9D8B030D-6E8A-4147-A177-3AD203B41FA5}">
                      <a16:colId xmlns:a16="http://schemas.microsoft.com/office/drawing/2014/main" val="3237815575"/>
                    </a:ext>
                  </a:extLst>
                </a:gridCol>
                <a:gridCol w="443416">
                  <a:extLst>
                    <a:ext uri="{9D8B030D-6E8A-4147-A177-3AD203B41FA5}">
                      <a16:colId xmlns:a16="http://schemas.microsoft.com/office/drawing/2014/main" val="1120548387"/>
                    </a:ext>
                  </a:extLst>
                </a:gridCol>
              </a:tblGrid>
              <a:tr h="343527">
                <a:tc>
                  <a:txBody>
                    <a:bodyPr/>
                    <a:lstStyle/>
                    <a:p>
                      <a:pPr>
                        <a:lnSpc>
                          <a:spcPct val="107000"/>
                        </a:lnSpc>
                        <a:spcAft>
                          <a:spcPts val="0"/>
                        </a:spcAft>
                      </a:pPr>
                      <a:r>
                        <a:rPr lang="tr-TR" sz="800">
                          <a:effectLst/>
                        </a:rPr>
                        <a:t>PeMSD7 dataset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Kaliforniya Eyaleti’nin District 7 bölgesindeki sensör verilerini içerir. </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228</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362</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17000</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2018</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ABD</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extLst>
                  <a:ext uri="{0D108BD9-81ED-4DB2-BD59-A6C34878D82A}">
                    <a16:rowId xmlns:a16="http://schemas.microsoft.com/office/drawing/2014/main" val="15327406"/>
                  </a:ext>
                </a:extLst>
              </a:tr>
              <a:tr h="1145089">
                <a:tc>
                  <a:txBody>
                    <a:bodyPr/>
                    <a:lstStyle/>
                    <a:p>
                      <a:pPr>
                        <a:lnSpc>
                          <a:spcPct val="107000"/>
                        </a:lnSpc>
                        <a:spcAft>
                          <a:spcPts val="0"/>
                        </a:spcAft>
                      </a:pPr>
                      <a:r>
                        <a:rPr lang="tr-TR" sz="800">
                          <a:effectLst/>
                        </a:rPr>
                        <a:t>PeMSD8 dataset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dirty="0">
                          <a:effectLst/>
                        </a:rPr>
                        <a:t>1 Temmuz 2016 ile 31 Ağustos 2016 arasını kapsamaktadır ve San </a:t>
                      </a:r>
                      <a:r>
                        <a:rPr lang="tr-TR" sz="800" dirty="0" err="1">
                          <a:effectLst/>
                        </a:rPr>
                        <a:t>Bernardino</a:t>
                      </a:r>
                      <a:r>
                        <a:rPr lang="tr-TR" sz="800" dirty="0">
                          <a:effectLst/>
                        </a:rPr>
                        <a:t> İlçesindeki 170 trafik </a:t>
                      </a:r>
                      <a:r>
                        <a:rPr lang="tr-TR" sz="800" dirty="0" err="1">
                          <a:effectLst/>
                        </a:rPr>
                        <a:t>sensöründen</a:t>
                      </a:r>
                      <a:r>
                        <a:rPr lang="tr-TR" sz="800" dirty="0">
                          <a:effectLst/>
                        </a:rPr>
                        <a:t> elde edilen trafik akışı verilerini içermektedir. Trafik akışı, şerit doluluk oranı ve ortalama hızdan oluşan üç dizi veri içermektedir.</a:t>
                      </a:r>
                      <a:endParaRPr lang="tr-T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dirty="0">
                          <a:effectLst/>
                        </a:rPr>
                        <a:t>170</a:t>
                      </a:r>
                      <a:endParaRPr lang="tr-T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295</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17568</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2016</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ABD</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extLst>
                  <a:ext uri="{0D108BD9-81ED-4DB2-BD59-A6C34878D82A}">
                    <a16:rowId xmlns:a16="http://schemas.microsoft.com/office/drawing/2014/main" val="2861514655"/>
                  </a:ext>
                </a:extLst>
              </a:tr>
              <a:tr h="801562">
                <a:tc>
                  <a:txBody>
                    <a:bodyPr/>
                    <a:lstStyle/>
                    <a:p>
                      <a:pPr>
                        <a:lnSpc>
                          <a:spcPct val="107000"/>
                        </a:lnSpc>
                        <a:spcAft>
                          <a:spcPts val="0"/>
                        </a:spcAft>
                      </a:pPr>
                      <a:r>
                        <a:rPr lang="tr-TR" sz="800">
                          <a:effectLst/>
                        </a:rPr>
                        <a:t>2020-CCF spatiotemporal training dataset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dirty="0">
                          <a:effectLst/>
                        </a:rPr>
                        <a:t>1 Temmuz 2019'dan 31 Temmuz 2019'a kadardır ve Temmuz 2019'da </a:t>
                      </a:r>
                      <a:r>
                        <a:rPr lang="tr-TR" sz="800" dirty="0" err="1">
                          <a:effectLst/>
                        </a:rPr>
                        <a:t>Xi'an</a:t>
                      </a:r>
                      <a:r>
                        <a:rPr lang="tr-TR" sz="800" dirty="0">
                          <a:effectLst/>
                        </a:rPr>
                        <a:t> şehrindeki farklı yolların topolojik bilgilerini ve diğer zamanlardaki yol koşullarını içerir.</a:t>
                      </a:r>
                      <a:endParaRPr lang="tr-T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2019</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ÇİN</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extLst>
                  <a:ext uri="{0D108BD9-81ED-4DB2-BD59-A6C34878D82A}">
                    <a16:rowId xmlns:a16="http://schemas.microsoft.com/office/drawing/2014/main" val="3537698583"/>
                  </a:ext>
                </a:extLst>
              </a:tr>
              <a:tr h="2061160">
                <a:tc>
                  <a:txBody>
                    <a:bodyPr/>
                    <a:lstStyle/>
                    <a:p>
                      <a:pPr>
                        <a:lnSpc>
                          <a:spcPct val="107000"/>
                        </a:lnSpc>
                        <a:spcAft>
                          <a:spcPts val="0"/>
                        </a:spcAft>
                      </a:pPr>
                      <a:r>
                        <a:rPr lang="tr-TR" sz="800">
                          <a:effectLst/>
                        </a:rPr>
                        <a:t>Seattle</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Washington Eyalet Ulaştırma Bakanlığı tarafından ABD’deki Seattle Otoyolu'na yerleştirilen 323 dedektörden toplanan verilerden oluşmaktadır. Her yarım milde bir dedektör istasyonları yerleştirilerek, I-5, I-405, I-90 ve SR-520 üzerindeki dört bağlantılı otoyolda endüksiyon halkası dedektörleri yerleştirilerek elde edilmiştir. Veri seti, 2015 yılı boyunca tüm dedektörlerden gelen trafik hızı verilerini, 5 dakikalık toplama aralıklarıyla, günde 288 örnek üretmektedir.</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323</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 </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 </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a:effectLst/>
                        </a:rPr>
                        <a:t>2015</a:t>
                      </a:r>
                      <a:endParaRPr lang="tr-TR" sz="90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tc>
                  <a:txBody>
                    <a:bodyPr/>
                    <a:lstStyle/>
                    <a:p>
                      <a:pPr>
                        <a:lnSpc>
                          <a:spcPct val="107000"/>
                        </a:lnSpc>
                        <a:spcAft>
                          <a:spcPts val="0"/>
                        </a:spcAft>
                      </a:pPr>
                      <a:r>
                        <a:rPr lang="tr-TR" sz="800" dirty="0">
                          <a:effectLst/>
                        </a:rPr>
                        <a:t>ABD</a:t>
                      </a:r>
                      <a:endParaRPr lang="tr-T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48158" marR="48158" marT="0" marB="0"/>
                </a:tc>
                <a:extLst>
                  <a:ext uri="{0D108BD9-81ED-4DB2-BD59-A6C34878D82A}">
                    <a16:rowId xmlns:a16="http://schemas.microsoft.com/office/drawing/2014/main" val="2498127807"/>
                  </a:ext>
                </a:extLst>
              </a:tr>
            </a:tbl>
          </a:graphicData>
        </a:graphic>
      </p:graphicFrame>
    </p:spTree>
    <p:extLst>
      <p:ext uri="{BB962C8B-B14F-4D97-AF65-F5344CB8AC3E}">
        <p14:creationId xmlns:p14="http://schemas.microsoft.com/office/powerpoint/2010/main" val="1886460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Veri Setleri</a:t>
            </a:r>
          </a:p>
        </p:txBody>
      </p:sp>
      <p:sp>
        <p:nvSpPr>
          <p:cNvPr id="3" name="İçerik Yer Tutucusu 2"/>
          <p:cNvSpPr>
            <a:spLocks noGrp="1"/>
          </p:cNvSpPr>
          <p:nvPr>
            <p:ph idx="1"/>
          </p:nvPr>
        </p:nvSpPr>
        <p:spPr/>
        <p:txBody>
          <a:bodyPr/>
          <a:lstStyle/>
          <a:p>
            <a:r>
              <a:rPr lang="tr-TR" dirty="0"/>
              <a:t>Çalışma için planlanan trafik analizi uygulamasında belediyelerle veri seti için görüşmeler sürmektedir.</a:t>
            </a:r>
          </a:p>
          <a:p>
            <a:r>
              <a:rPr lang="tr-TR" dirty="0"/>
              <a:t>Öncelik Bursa Büyükşehir Belediyesine ait verilere verilmektedir.</a:t>
            </a:r>
          </a:p>
          <a:p>
            <a:r>
              <a:rPr lang="tr-TR" dirty="0"/>
              <a:t>Aynı zamanda literatürdeki mevcut popüler veri setleri ile çalışmalar devam etmektedir.</a:t>
            </a:r>
          </a:p>
        </p:txBody>
      </p:sp>
    </p:spTree>
    <p:extLst>
      <p:ext uri="{BB962C8B-B14F-4D97-AF65-F5344CB8AC3E}">
        <p14:creationId xmlns:p14="http://schemas.microsoft.com/office/powerpoint/2010/main" val="6628558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Çalışma Planı</a:t>
            </a:r>
          </a:p>
        </p:txBody>
      </p:sp>
      <p:pic>
        <p:nvPicPr>
          <p:cNvPr id="5" name="İçerik Yer Tutucusu 4">
            <a:extLst>
              <a:ext uri="{FF2B5EF4-FFF2-40B4-BE49-F238E27FC236}">
                <a16:creationId xmlns:a16="http://schemas.microsoft.com/office/drawing/2014/main" id="{E836F413-B246-0288-A101-D7DC3BD28A3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352804" y="1382373"/>
            <a:ext cx="3486392" cy="5475627"/>
          </a:xfrm>
        </p:spPr>
      </p:pic>
    </p:spTree>
    <p:extLst>
      <p:ext uri="{BB962C8B-B14F-4D97-AF65-F5344CB8AC3E}">
        <p14:creationId xmlns:p14="http://schemas.microsoft.com/office/powerpoint/2010/main" val="41442568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Aktif Çalışmalar</a:t>
            </a:r>
          </a:p>
        </p:txBody>
      </p:sp>
      <p:sp>
        <p:nvSpPr>
          <p:cNvPr id="3" name="İçerik Yer Tutucusu 2"/>
          <p:cNvSpPr>
            <a:spLocks noGrp="1"/>
          </p:cNvSpPr>
          <p:nvPr>
            <p:ph idx="1"/>
          </p:nvPr>
        </p:nvSpPr>
        <p:spPr/>
        <p:txBody>
          <a:bodyPr/>
          <a:lstStyle/>
          <a:p>
            <a:r>
              <a:rPr lang="tr-TR" dirty="0"/>
              <a:t>BAP projesi kapsamında doktora tezi ilerlemektedir.</a:t>
            </a:r>
          </a:p>
          <a:p>
            <a:r>
              <a:rPr lang="tr-TR" dirty="0" err="1"/>
              <a:t>Spatio</a:t>
            </a:r>
            <a:r>
              <a:rPr lang="tr-TR" dirty="0"/>
              <a:t> GNN alanında derleme bir makale çalışması devam etmektedir.</a:t>
            </a:r>
          </a:p>
          <a:p>
            <a:pPr marL="0" indent="0">
              <a:buNone/>
            </a:pPr>
            <a:r>
              <a:rPr lang="tr-TR" dirty="0"/>
              <a:t>(https://docs.google.com/document/d/1B2THXp0Pjpv0OOyTOuGBaQu3rrRoMrM_r8JtDrEMdrY/edit?usp=sharing)</a:t>
            </a:r>
          </a:p>
          <a:p>
            <a:pPr marL="0" indent="0">
              <a:buNone/>
            </a:pPr>
            <a:endParaRPr lang="tr-TR" dirty="0"/>
          </a:p>
        </p:txBody>
      </p:sp>
    </p:spTree>
    <p:extLst>
      <p:ext uri="{BB962C8B-B14F-4D97-AF65-F5344CB8AC3E}">
        <p14:creationId xmlns:p14="http://schemas.microsoft.com/office/powerpoint/2010/main" val="29114580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Kaynaklar</a:t>
            </a:r>
          </a:p>
        </p:txBody>
      </p:sp>
      <p:sp>
        <p:nvSpPr>
          <p:cNvPr id="3" name="İçerik Yer Tutucusu 2"/>
          <p:cNvSpPr>
            <a:spLocks noGrp="1"/>
          </p:cNvSpPr>
          <p:nvPr>
            <p:ph idx="1"/>
          </p:nvPr>
        </p:nvSpPr>
        <p:spPr/>
        <p:txBody>
          <a:bodyPr>
            <a:noAutofit/>
          </a:bodyPr>
          <a:lstStyle/>
          <a:p>
            <a:r>
              <a:rPr lang="tr-TR" sz="1200" b="1" dirty="0" err="1"/>
              <a:t>Sharma</a:t>
            </a:r>
            <a:r>
              <a:rPr lang="tr-TR" sz="1200" b="1" dirty="0"/>
              <a:t>, A., </a:t>
            </a:r>
            <a:r>
              <a:rPr lang="tr-TR" sz="1200" b="1" dirty="0" err="1"/>
              <a:t>Sharma</a:t>
            </a:r>
            <a:r>
              <a:rPr lang="tr-TR" sz="1200" b="1" dirty="0"/>
              <a:t>, A., </a:t>
            </a:r>
            <a:r>
              <a:rPr lang="tr-TR" sz="1200" b="1" dirty="0" err="1"/>
              <a:t>Nikashina</a:t>
            </a:r>
            <a:r>
              <a:rPr lang="tr-TR" sz="1200" b="1" dirty="0"/>
              <a:t>, P., </a:t>
            </a:r>
            <a:r>
              <a:rPr lang="tr-TR" sz="1200" b="1" dirty="0" err="1"/>
              <a:t>Gavrilenko</a:t>
            </a:r>
            <a:r>
              <a:rPr lang="tr-TR" sz="1200" b="1" dirty="0"/>
              <a:t>, V., </a:t>
            </a:r>
            <a:r>
              <a:rPr lang="tr-TR" sz="1200" b="1" dirty="0" err="1"/>
              <a:t>Tselykh</a:t>
            </a:r>
            <a:r>
              <a:rPr lang="tr-TR" sz="1200" b="1" dirty="0"/>
              <a:t>, A., </a:t>
            </a:r>
            <a:r>
              <a:rPr lang="tr-TR" sz="1200" b="1" dirty="0" err="1"/>
              <a:t>Bozhenyuk</a:t>
            </a:r>
            <a:r>
              <a:rPr lang="tr-TR" sz="1200" b="1" dirty="0"/>
              <a:t>, A., ... &amp; </a:t>
            </a:r>
            <a:r>
              <a:rPr lang="tr-TR" sz="1200" b="1" dirty="0" err="1"/>
              <a:t>Meshref</a:t>
            </a:r>
            <a:r>
              <a:rPr lang="tr-TR" sz="1200" b="1" dirty="0"/>
              <a:t>, H. (2023). A </a:t>
            </a:r>
            <a:r>
              <a:rPr lang="tr-TR" sz="1200" b="1" dirty="0" err="1"/>
              <a:t>graph</a:t>
            </a:r>
            <a:r>
              <a:rPr lang="tr-TR" sz="1200" b="1" dirty="0"/>
              <a:t> </a:t>
            </a:r>
            <a:r>
              <a:rPr lang="tr-TR" sz="1200" b="1" dirty="0" err="1"/>
              <a:t>neural</a:t>
            </a:r>
            <a:r>
              <a:rPr lang="tr-TR" sz="1200" b="1" dirty="0"/>
              <a:t> network (GNN)-</a:t>
            </a:r>
            <a:r>
              <a:rPr lang="tr-TR" sz="1200" b="1" dirty="0" err="1"/>
              <a:t>based</a:t>
            </a:r>
            <a:r>
              <a:rPr lang="tr-TR" sz="1200" b="1" dirty="0"/>
              <a:t> </a:t>
            </a:r>
            <a:r>
              <a:rPr lang="tr-TR" sz="1200" b="1" dirty="0" err="1"/>
              <a:t>approach</a:t>
            </a:r>
            <a:r>
              <a:rPr lang="tr-TR" sz="1200" b="1" dirty="0"/>
              <a:t> </a:t>
            </a:r>
            <a:r>
              <a:rPr lang="tr-TR" sz="1200" b="1" dirty="0" err="1"/>
              <a:t>for</a:t>
            </a:r>
            <a:r>
              <a:rPr lang="tr-TR" sz="1200" b="1" dirty="0"/>
              <a:t> </a:t>
            </a:r>
            <a:r>
              <a:rPr lang="tr-TR" sz="1200" b="1" dirty="0" err="1"/>
              <a:t>real</a:t>
            </a:r>
            <a:r>
              <a:rPr lang="tr-TR" sz="1200" b="1" dirty="0"/>
              <a:t>-time </a:t>
            </a:r>
            <a:r>
              <a:rPr lang="tr-TR" sz="1200" b="1" dirty="0" err="1"/>
              <a:t>estimation</a:t>
            </a:r>
            <a:r>
              <a:rPr lang="tr-TR" sz="1200" b="1" dirty="0"/>
              <a:t> of </a:t>
            </a:r>
            <a:r>
              <a:rPr lang="tr-TR" sz="1200" b="1" dirty="0" err="1"/>
              <a:t>traffic</a:t>
            </a:r>
            <a:r>
              <a:rPr lang="tr-TR" sz="1200" b="1" dirty="0"/>
              <a:t> </a:t>
            </a:r>
            <a:r>
              <a:rPr lang="tr-TR" sz="1200" b="1" dirty="0" err="1"/>
              <a:t>speed</a:t>
            </a:r>
            <a:r>
              <a:rPr lang="tr-TR" sz="1200" b="1" dirty="0"/>
              <a:t> in </a:t>
            </a:r>
            <a:r>
              <a:rPr lang="tr-TR" sz="1200" b="1" dirty="0" err="1"/>
              <a:t>sustainable</a:t>
            </a:r>
            <a:r>
              <a:rPr lang="tr-TR" sz="1200" b="1" dirty="0"/>
              <a:t> </a:t>
            </a:r>
            <a:r>
              <a:rPr lang="tr-TR" sz="1200" b="1" dirty="0" err="1"/>
              <a:t>smart</a:t>
            </a:r>
            <a:r>
              <a:rPr lang="tr-TR" sz="1200" b="1" dirty="0"/>
              <a:t> </a:t>
            </a:r>
            <a:r>
              <a:rPr lang="tr-TR" sz="1200" b="1" dirty="0" err="1"/>
              <a:t>cities</a:t>
            </a:r>
            <a:r>
              <a:rPr lang="tr-TR" sz="1200" b="1" dirty="0"/>
              <a:t>. </a:t>
            </a:r>
            <a:r>
              <a:rPr lang="tr-TR" sz="1200" b="1" dirty="0" err="1"/>
              <a:t>Sustainability</a:t>
            </a:r>
            <a:r>
              <a:rPr lang="tr-TR" sz="1200" b="1" dirty="0"/>
              <a:t>, 15(15), 11893.</a:t>
            </a:r>
            <a:endParaRPr lang="tr-TR" sz="1200" dirty="0"/>
          </a:p>
          <a:p>
            <a:r>
              <a:rPr lang="tr-TR" sz="1200" b="1" dirty="0"/>
              <a:t>Jiang, W., </a:t>
            </a:r>
            <a:r>
              <a:rPr lang="tr-TR" sz="1200" b="1" dirty="0" err="1"/>
              <a:t>Xiao</a:t>
            </a:r>
            <a:r>
              <a:rPr lang="tr-TR" sz="1200" b="1" dirty="0"/>
              <a:t>, Y., </a:t>
            </a:r>
            <a:r>
              <a:rPr lang="tr-TR" sz="1200" b="1" dirty="0" err="1"/>
              <a:t>Liu</a:t>
            </a:r>
            <a:r>
              <a:rPr lang="tr-TR" sz="1200" b="1" dirty="0"/>
              <a:t>, Y., </a:t>
            </a:r>
            <a:r>
              <a:rPr lang="tr-TR" sz="1200" b="1" dirty="0" err="1"/>
              <a:t>Liu</a:t>
            </a:r>
            <a:r>
              <a:rPr lang="tr-TR" sz="1200" b="1" dirty="0"/>
              <a:t>, Q., &amp; </a:t>
            </a:r>
            <a:r>
              <a:rPr lang="tr-TR" sz="1200" b="1" dirty="0" err="1"/>
              <a:t>Li</a:t>
            </a:r>
            <a:r>
              <a:rPr lang="tr-TR" sz="1200" b="1" dirty="0"/>
              <a:t>, Z. (2022). </a:t>
            </a:r>
            <a:r>
              <a:rPr lang="tr-TR" sz="1200" b="1" dirty="0" err="1"/>
              <a:t>Bi</a:t>
            </a:r>
            <a:r>
              <a:rPr lang="tr-TR" sz="1200" b="1" dirty="0"/>
              <a:t>‐GRCN: A </a:t>
            </a:r>
            <a:r>
              <a:rPr lang="tr-TR" sz="1200" b="1" dirty="0" err="1"/>
              <a:t>Spatio</a:t>
            </a:r>
            <a:r>
              <a:rPr lang="tr-TR" sz="1200" b="1" dirty="0"/>
              <a:t>‐Temporal </a:t>
            </a:r>
            <a:r>
              <a:rPr lang="tr-TR" sz="1200" b="1" dirty="0" err="1"/>
              <a:t>Traffic</a:t>
            </a:r>
            <a:r>
              <a:rPr lang="tr-TR" sz="1200" b="1" dirty="0"/>
              <a:t> </a:t>
            </a:r>
            <a:r>
              <a:rPr lang="tr-TR" sz="1200" b="1" dirty="0" err="1"/>
              <a:t>Flow</a:t>
            </a:r>
            <a:r>
              <a:rPr lang="tr-TR" sz="1200" b="1" dirty="0"/>
              <a:t> </a:t>
            </a:r>
            <a:r>
              <a:rPr lang="tr-TR" sz="1200" b="1" dirty="0" err="1"/>
              <a:t>Prediction</a:t>
            </a:r>
            <a:r>
              <a:rPr lang="tr-TR" sz="1200" b="1" dirty="0"/>
              <a:t> Model </a:t>
            </a:r>
            <a:r>
              <a:rPr lang="tr-TR" sz="1200" b="1" dirty="0" err="1"/>
              <a:t>Based</a:t>
            </a:r>
            <a:r>
              <a:rPr lang="tr-TR" sz="1200" b="1" dirty="0"/>
              <a:t> on </a:t>
            </a:r>
            <a:r>
              <a:rPr lang="tr-TR" sz="1200" b="1" dirty="0" err="1"/>
              <a:t>Graph</a:t>
            </a:r>
            <a:r>
              <a:rPr lang="tr-TR" sz="1200" b="1" dirty="0"/>
              <a:t> </a:t>
            </a:r>
            <a:r>
              <a:rPr lang="tr-TR" sz="1200" b="1" dirty="0" err="1"/>
              <a:t>Neural</a:t>
            </a:r>
            <a:r>
              <a:rPr lang="tr-TR" sz="1200" b="1" dirty="0"/>
              <a:t> Network. </a:t>
            </a:r>
            <a:r>
              <a:rPr lang="tr-TR" sz="1200" b="1" dirty="0" err="1"/>
              <a:t>Journal</a:t>
            </a:r>
            <a:r>
              <a:rPr lang="tr-TR" sz="1200" b="1" dirty="0"/>
              <a:t> of Advanced </a:t>
            </a:r>
            <a:r>
              <a:rPr lang="tr-TR" sz="1200" b="1" dirty="0" err="1"/>
              <a:t>Transportation</a:t>
            </a:r>
            <a:r>
              <a:rPr lang="tr-TR" sz="1200" b="1" dirty="0"/>
              <a:t>, 2022(1), 5221362.</a:t>
            </a:r>
            <a:endParaRPr lang="tr-TR" sz="1200" dirty="0"/>
          </a:p>
          <a:p>
            <a:r>
              <a:rPr lang="tr-TR" sz="1200" b="1" dirty="0"/>
              <a:t>Zhou, H., Ren, D., </a:t>
            </a:r>
            <a:r>
              <a:rPr lang="tr-TR" sz="1200" b="1" dirty="0" err="1"/>
              <a:t>Xia</a:t>
            </a:r>
            <a:r>
              <a:rPr lang="tr-TR" sz="1200" b="1" dirty="0"/>
              <a:t>, H., Fan, M., Yang, X., &amp; Huang, H. (2021). Ast-</a:t>
            </a:r>
            <a:r>
              <a:rPr lang="tr-TR" sz="1200" b="1" dirty="0" err="1"/>
              <a:t>gnn</a:t>
            </a:r>
            <a:r>
              <a:rPr lang="tr-TR" sz="1200" b="1" dirty="0"/>
              <a:t>: An </a:t>
            </a:r>
            <a:r>
              <a:rPr lang="tr-TR" sz="1200" b="1" dirty="0" err="1"/>
              <a:t>attention-based</a:t>
            </a:r>
            <a:r>
              <a:rPr lang="tr-TR" sz="1200" b="1" dirty="0"/>
              <a:t> </a:t>
            </a:r>
            <a:r>
              <a:rPr lang="tr-TR" sz="1200" b="1" dirty="0" err="1"/>
              <a:t>spatio</a:t>
            </a:r>
            <a:r>
              <a:rPr lang="tr-TR" sz="1200" b="1" dirty="0"/>
              <a:t>-temporal </a:t>
            </a:r>
            <a:r>
              <a:rPr lang="tr-TR" sz="1200" b="1" dirty="0" err="1"/>
              <a:t>graph</a:t>
            </a:r>
            <a:r>
              <a:rPr lang="tr-TR" sz="1200" b="1" dirty="0"/>
              <a:t> </a:t>
            </a:r>
            <a:r>
              <a:rPr lang="tr-TR" sz="1200" b="1" dirty="0" err="1"/>
              <a:t>neural</a:t>
            </a:r>
            <a:r>
              <a:rPr lang="tr-TR" sz="1200" b="1" dirty="0"/>
              <a:t> network </a:t>
            </a:r>
            <a:r>
              <a:rPr lang="tr-TR" sz="1200" b="1" dirty="0" err="1"/>
              <a:t>for</a:t>
            </a:r>
            <a:r>
              <a:rPr lang="tr-TR" sz="1200" b="1" dirty="0"/>
              <a:t> </a:t>
            </a:r>
            <a:r>
              <a:rPr lang="tr-TR" sz="1200" b="1" dirty="0" err="1"/>
              <a:t>interaction-aware</a:t>
            </a:r>
            <a:r>
              <a:rPr lang="tr-TR" sz="1200" b="1" dirty="0"/>
              <a:t> </a:t>
            </a:r>
            <a:r>
              <a:rPr lang="tr-TR" sz="1200" b="1" dirty="0" err="1"/>
              <a:t>pedestrian</a:t>
            </a:r>
            <a:r>
              <a:rPr lang="tr-TR" sz="1200" b="1" dirty="0"/>
              <a:t> </a:t>
            </a:r>
            <a:r>
              <a:rPr lang="tr-TR" sz="1200" b="1" dirty="0" err="1"/>
              <a:t>trajectory</a:t>
            </a:r>
            <a:r>
              <a:rPr lang="tr-TR" sz="1200" b="1" dirty="0"/>
              <a:t> </a:t>
            </a:r>
            <a:r>
              <a:rPr lang="tr-TR" sz="1200" b="1" dirty="0" err="1"/>
              <a:t>prediction</a:t>
            </a:r>
            <a:r>
              <a:rPr lang="tr-TR" sz="1200" b="1" dirty="0"/>
              <a:t>. </a:t>
            </a:r>
            <a:r>
              <a:rPr lang="tr-TR" sz="1200" b="1" dirty="0" err="1"/>
              <a:t>Neurocomputing</a:t>
            </a:r>
            <a:r>
              <a:rPr lang="tr-TR" sz="1200" b="1" dirty="0"/>
              <a:t>, 445, 298-308.</a:t>
            </a:r>
          </a:p>
          <a:p>
            <a:r>
              <a:rPr lang="tr-TR" sz="1200" b="1" dirty="0" err="1"/>
              <a:t>Kralj</a:t>
            </a:r>
            <a:r>
              <a:rPr lang="tr-TR" sz="1200" b="1" dirty="0"/>
              <a:t>, I., </a:t>
            </a:r>
            <a:r>
              <a:rPr lang="tr-TR" sz="1200" b="1" dirty="0" err="1"/>
              <a:t>Giaretta</a:t>
            </a:r>
            <a:r>
              <a:rPr lang="tr-TR" sz="1200" b="1" dirty="0"/>
              <a:t>, L., </a:t>
            </a:r>
            <a:r>
              <a:rPr lang="tr-TR" sz="1200" b="1" dirty="0" err="1"/>
              <a:t>Ježić</a:t>
            </a:r>
            <a:r>
              <a:rPr lang="tr-TR" sz="1200" b="1" dirty="0"/>
              <a:t>, G., </a:t>
            </a:r>
            <a:r>
              <a:rPr lang="tr-TR" sz="1200" b="1" dirty="0" err="1"/>
              <a:t>Zarko</a:t>
            </a:r>
            <a:r>
              <a:rPr lang="tr-TR" sz="1200" b="1" dirty="0"/>
              <a:t>, I. P., &amp; </a:t>
            </a:r>
            <a:r>
              <a:rPr lang="tr-TR" sz="1200" b="1" dirty="0" err="1"/>
              <a:t>Girdzijauskas</a:t>
            </a:r>
            <a:r>
              <a:rPr lang="tr-TR" sz="1200" b="1" dirty="0"/>
              <a:t>, Š. (2025, </a:t>
            </a:r>
            <a:r>
              <a:rPr lang="tr-TR" sz="1200" b="1" dirty="0" err="1"/>
              <a:t>July</a:t>
            </a:r>
            <a:r>
              <a:rPr lang="tr-TR" sz="1200" b="1" dirty="0"/>
              <a:t>). Semi-</a:t>
            </a:r>
            <a:r>
              <a:rPr lang="tr-TR" sz="1200" b="1" dirty="0" err="1"/>
              <a:t>decentralized</a:t>
            </a:r>
            <a:r>
              <a:rPr lang="tr-TR" sz="1200" b="1" dirty="0"/>
              <a:t> </a:t>
            </a:r>
            <a:r>
              <a:rPr lang="tr-TR" sz="1200" b="1" dirty="0" err="1"/>
              <a:t>training</a:t>
            </a:r>
            <a:r>
              <a:rPr lang="tr-TR" sz="1200" b="1" dirty="0"/>
              <a:t> of </a:t>
            </a:r>
            <a:r>
              <a:rPr lang="tr-TR" sz="1200" b="1" dirty="0" err="1"/>
              <a:t>spatio</a:t>
            </a:r>
            <a:r>
              <a:rPr lang="tr-TR" sz="1200" b="1" dirty="0"/>
              <a:t>-temporal </a:t>
            </a:r>
            <a:r>
              <a:rPr lang="tr-TR" sz="1200" b="1" dirty="0" err="1"/>
              <a:t>graph</a:t>
            </a:r>
            <a:r>
              <a:rPr lang="tr-TR" sz="1200" b="1" dirty="0"/>
              <a:t> </a:t>
            </a:r>
            <a:r>
              <a:rPr lang="tr-TR" sz="1200" b="1" dirty="0" err="1"/>
              <a:t>neural</a:t>
            </a:r>
            <a:r>
              <a:rPr lang="tr-TR" sz="1200" b="1" dirty="0"/>
              <a:t> </a:t>
            </a:r>
            <a:r>
              <a:rPr lang="tr-TR" sz="1200" b="1" dirty="0" err="1"/>
              <a:t>networks</a:t>
            </a:r>
            <a:r>
              <a:rPr lang="tr-TR" sz="1200" b="1" dirty="0"/>
              <a:t> </a:t>
            </a:r>
            <a:r>
              <a:rPr lang="tr-TR" sz="1200" b="1" dirty="0" err="1"/>
              <a:t>for</a:t>
            </a:r>
            <a:r>
              <a:rPr lang="tr-TR" sz="1200" b="1" dirty="0"/>
              <a:t> </a:t>
            </a:r>
            <a:r>
              <a:rPr lang="tr-TR" sz="1200" b="1" dirty="0" err="1"/>
              <a:t>traffic</a:t>
            </a:r>
            <a:r>
              <a:rPr lang="tr-TR" sz="1200" b="1" dirty="0"/>
              <a:t> </a:t>
            </a:r>
            <a:r>
              <a:rPr lang="tr-TR" sz="1200" b="1" dirty="0" err="1"/>
              <a:t>prediction</a:t>
            </a:r>
            <a:r>
              <a:rPr lang="tr-TR" sz="1200" b="1" dirty="0"/>
              <a:t>. </a:t>
            </a:r>
            <a:r>
              <a:rPr lang="tr-TR" sz="1200" b="1" dirty="0" err="1"/>
              <a:t>In</a:t>
            </a:r>
            <a:r>
              <a:rPr lang="tr-TR" sz="1200" b="1" dirty="0"/>
              <a:t> 2025 IEEE International Conference on </a:t>
            </a:r>
            <a:r>
              <a:rPr lang="tr-TR" sz="1200" b="1" dirty="0" err="1"/>
              <a:t>Edge</a:t>
            </a:r>
            <a:r>
              <a:rPr lang="tr-TR" sz="1200" b="1" dirty="0"/>
              <a:t> Computing </a:t>
            </a:r>
            <a:r>
              <a:rPr lang="tr-TR" sz="1200" b="1" dirty="0" err="1"/>
              <a:t>and</a:t>
            </a:r>
            <a:r>
              <a:rPr lang="tr-TR" sz="1200" b="1" dirty="0"/>
              <a:t> Communications (EDGE) (</a:t>
            </a:r>
            <a:r>
              <a:rPr lang="tr-TR" sz="1200" b="1" dirty="0" err="1"/>
              <a:t>pp</a:t>
            </a:r>
            <a:r>
              <a:rPr lang="tr-TR" sz="1200" b="1" dirty="0"/>
              <a:t>. 147-155). IEEE.</a:t>
            </a:r>
          </a:p>
          <a:p>
            <a:r>
              <a:rPr lang="en-US" sz="1200" b="1" dirty="0"/>
              <a:t>He, S., Luo, Q., Du, R., Zhao, L., He, G., Fu, H., &amp; Li, H. (2023). STGC-GNNs: A GNN-based traffic prediction framework with a spatial–temporal Granger causality graph. Physica A: Statistical Mechanics and its Applications, 623, 128913.</a:t>
            </a:r>
            <a:endParaRPr lang="tr-TR" sz="1200" b="1" dirty="0"/>
          </a:p>
          <a:p>
            <a:r>
              <a:rPr lang="en-US" sz="1200" b="1" dirty="0"/>
              <a:t>Xu, J., Li, Y., Lu, W., Wu, S., &amp; Li, Y. (2024). A heterogeneous traffic </a:t>
            </a:r>
            <a:r>
              <a:rPr lang="en-US" sz="1200" b="1" dirty="0" err="1"/>
              <a:t>spatio</a:t>
            </a:r>
            <a:r>
              <a:rPr lang="en-US" sz="1200" b="1" dirty="0"/>
              <a:t>-temporal graph convolution model for traffic prediction. Physica A: Statistical Mechanics and its Applications, 641, 129746.</a:t>
            </a:r>
            <a:endParaRPr lang="tr-TR" sz="1200" b="1" dirty="0"/>
          </a:p>
          <a:p>
            <a:r>
              <a:rPr lang="tr-TR" sz="1200" b="1" dirty="0"/>
              <a:t>Kong, W., </a:t>
            </a:r>
            <a:r>
              <a:rPr lang="tr-TR" sz="1200" b="1" dirty="0" err="1"/>
              <a:t>Guo</a:t>
            </a:r>
            <a:r>
              <a:rPr lang="tr-TR" sz="1200" b="1" dirty="0"/>
              <a:t>, Z., &amp; </a:t>
            </a:r>
            <a:r>
              <a:rPr lang="tr-TR" sz="1200" b="1" dirty="0" err="1"/>
              <a:t>Liu</a:t>
            </a:r>
            <a:r>
              <a:rPr lang="tr-TR" sz="1200" b="1" dirty="0"/>
              <a:t>, Y. (2024, </a:t>
            </a:r>
            <a:r>
              <a:rPr lang="tr-TR" sz="1200" b="1" dirty="0" err="1"/>
              <a:t>March</a:t>
            </a:r>
            <a:r>
              <a:rPr lang="tr-TR" sz="1200" b="1" dirty="0"/>
              <a:t>). </a:t>
            </a:r>
            <a:r>
              <a:rPr lang="tr-TR" sz="1200" b="1" dirty="0" err="1"/>
              <a:t>Spatio</a:t>
            </a:r>
            <a:r>
              <a:rPr lang="tr-TR" sz="1200" b="1" dirty="0"/>
              <a:t>-temporal pivotal </a:t>
            </a:r>
            <a:r>
              <a:rPr lang="tr-TR" sz="1200" b="1" dirty="0" err="1"/>
              <a:t>graph</a:t>
            </a:r>
            <a:r>
              <a:rPr lang="tr-TR" sz="1200" b="1" dirty="0"/>
              <a:t> </a:t>
            </a:r>
            <a:r>
              <a:rPr lang="tr-TR" sz="1200" b="1" dirty="0" err="1"/>
              <a:t>neural</a:t>
            </a:r>
            <a:r>
              <a:rPr lang="tr-TR" sz="1200" b="1" dirty="0"/>
              <a:t> </a:t>
            </a:r>
            <a:r>
              <a:rPr lang="tr-TR" sz="1200" b="1" dirty="0" err="1"/>
              <a:t>networks</a:t>
            </a:r>
            <a:r>
              <a:rPr lang="tr-TR" sz="1200" b="1" dirty="0"/>
              <a:t> </a:t>
            </a:r>
            <a:r>
              <a:rPr lang="tr-TR" sz="1200" b="1" dirty="0" err="1"/>
              <a:t>for</a:t>
            </a:r>
            <a:r>
              <a:rPr lang="tr-TR" sz="1200" b="1" dirty="0"/>
              <a:t> </a:t>
            </a:r>
            <a:r>
              <a:rPr lang="tr-TR" sz="1200" b="1" dirty="0" err="1"/>
              <a:t>traffic</a:t>
            </a:r>
            <a:r>
              <a:rPr lang="tr-TR" sz="1200" b="1" dirty="0"/>
              <a:t> </a:t>
            </a:r>
            <a:r>
              <a:rPr lang="tr-TR" sz="1200" b="1" dirty="0" err="1"/>
              <a:t>flow</a:t>
            </a:r>
            <a:r>
              <a:rPr lang="tr-TR" sz="1200" b="1" dirty="0"/>
              <a:t> </a:t>
            </a:r>
            <a:r>
              <a:rPr lang="tr-TR" sz="1200" b="1" dirty="0" err="1"/>
              <a:t>forecasting</a:t>
            </a:r>
            <a:r>
              <a:rPr lang="tr-TR" sz="1200" b="1" dirty="0"/>
              <a:t>. </a:t>
            </a:r>
            <a:r>
              <a:rPr lang="tr-TR" sz="1200" b="1" dirty="0" err="1"/>
              <a:t>In</a:t>
            </a:r>
            <a:r>
              <a:rPr lang="tr-TR" sz="1200" b="1" dirty="0"/>
              <a:t> </a:t>
            </a:r>
            <a:r>
              <a:rPr lang="tr-TR" sz="1200" b="1" dirty="0" err="1"/>
              <a:t>Proceedings</a:t>
            </a:r>
            <a:r>
              <a:rPr lang="tr-TR" sz="1200" b="1" dirty="0"/>
              <a:t> of </a:t>
            </a:r>
            <a:r>
              <a:rPr lang="tr-TR" sz="1200" b="1" dirty="0" err="1"/>
              <a:t>the</a:t>
            </a:r>
            <a:r>
              <a:rPr lang="tr-TR" sz="1200" b="1" dirty="0"/>
              <a:t> AAAI </a:t>
            </a:r>
            <a:r>
              <a:rPr lang="tr-TR" sz="1200" b="1" dirty="0" err="1"/>
              <a:t>conference</a:t>
            </a:r>
            <a:r>
              <a:rPr lang="tr-TR" sz="1200" b="1" dirty="0"/>
              <a:t> on </a:t>
            </a:r>
            <a:r>
              <a:rPr lang="tr-TR" sz="1200" b="1" dirty="0" err="1"/>
              <a:t>artificial</a:t>
            </a:r>
            <a:r>
              <a:rPr lang="tr-TR" sz="1200" b="1" dirty="0"/>
              <a:t> </a:t>
            </a:r>
            <a:r>
              <a:rPr lang="tr-TR" sz="1200" b="1" dirty="0" err="1"/>
              <a:t>intelligence</a:t>
            </a:r>
            <a:r>
              <a:rPr lang="tr-TR" sz="1200" b="1" dirty="0"/>
              <a:t> (</a:t>
            </a:r>
            <a:r>
              <a:rPr lang="tr-TR" sz="1200" b="1" dirty="0" err="1"/>
              <a:t>Vol</a:t>
            </a:r>
            <a:r>
              <a:rPr lang="tr-TR" sz="1200" b="1" dirty="0"/>
              <a:t>. 38, No. 8, </a:t>
            </a:r>
            <a:r>
              <a:rPr lang="tr-TR" sz="1200" b="1" dirty="0" err="1"/>
              <a:t>pp</a:t>
            </a:r>
            <a:r>
              <a:rPr lang="tr-TR" sz="1200" b="1" dirty="0"/>
              <a:t>. 8627-8635).</a:t>
            </a:r>
            <a:endParaRPr lang="tr-TR" sz="1200" dirty="0"/>
          </a:p>
          <a:p>
            <a:r>
              <a:rPr lang="tr-TR" sz="1200" b="1" dirty="0" err="1"/>
              <a:t>Peng</a:t>
            </a:r>
            <a:r>
              <a:rPr lang="tr-TR" sz="1200" b="1" dirty="0"/>
              <a:t>, C., Xu, C., </a:t>
            </a:r>
            <a:r>
              <a:rPr lang="tr-TR" sz="1200" b="1" dirty="0" err="1"/>
              <a:t>Kudryavtsev</a:t>
            </a:r>
            <a:r>
              <a:rPr lang="tr-TR" sz="1200" b="1" dirty="0"/>
              <a:t>, F., </a:t>
            </a:r>
            <a:r>
              <a:rPr lang="tr-TR" sz="1200" b="1" dirty="0" err="1"/>
              <a:t>Ai</a:t>
            </a:r>
            <a:r>
              <a:rPr lang="tr-TR" sz="1200" b="1" dirty="0"/>
              <a:t>, Q., </a:t>
            </a:r>
            <a:r>
              <a:rPr lang="tr-TR" sz="1200" b="1" dirty="0" err="1"/>
              <a:t>Gao</a:t>
            </a:r>
            <a:r>
              <a:rPr lang="tr-TR" sz="1200" b="1" dirty="0"/>
              <a:t>, Y., &amp; </a:t>
            </a:r>
            <a:r>
              <a:rPr lang="tr-TR" sz="1200" b="1" dirty="0" err="1"/>
              <a:t>Jiao</a:t>
            </a:r>
            <a:r>
              <a:rPr lang="tr-TR" sz="1200" b="1" dirty="0"/>
              <a:t>, Y. (2025). </a:t>
            </a:r>
            <a:r>
              <a:rPr lang="tr-TR" sz="1200" b="1" dirty="0" err="1"/>
              <a:t>Spatiotemporal</a:t>
            </a:r>
            <a:r>
              <a:rPr lang="tr-TR" sz="1200" b="1" dirty="0"/>
              <a:t> </a:t>
            </a:r>
            <a:r>
              <a:rPr lang="tr-TR" sz="1200" b="1" dirty="0" err="1"/>
              <a:t>Factorized</a:t>
            </a:r>
            <a:r>
              <a:rPr lang="tr-TR" sz="1200" b="1" dirty="0"/>
              <a:t> </a:t>
            </a:r>
            <a:r>
              <a:rPr lang="tr-TR" sz="1200" b="1" dirty="0" err="1"/>
              <a:t>Graph</a:t>
            </a:r>
            <a:r>
              <a:rPr lang="tr-TR" sz="1200" b="1" dirty="0"/>
              <a:t> </a:t>
            </a:r>
            <a:r>
              <a:rPr lang="tr-TR" sz="1200" b="1" dirty="0" err="1"/>
              <a:t>Neural</a:t>
            </a:r>
            <a:r>
              <a:rPr lang="tr-TR" sz="1200" b="1" dirty="0"/>
              <a:t> Networks </a:t>
            </a:r>
            <a:r>
              <a:rPr lang="tr-TR" sz="1200" b="1" dirty="0" err="1"/>
              <a:t>for</a:t>
            </a:r>
            <a:r>
              <a:rPr lang="tr-TR" sz="1200" b="1" dirty="0"/>
              <a:t> </a:t>
            </a:r>
            <a:r>
              <a:rPr lang="tr-TR" sz="1200" b="1" dirty="0" err="1"/>
              <a:t>Joint</a:t>
            </a:r>
            <a:r>
              <a:rPr lang="tr-TR" sz="1200" b="1" dirty="0"/>
              <a:t> </a:t>
            </a:r>
            <a:r>
              <a:rPr lang="tr-TR" sz="1200" b="1" dirty="0" err="1"/>
              <a:t>Large-Scale</a:t>
            </a:r>
            <a:r>
              <a:rPr lang="tr-TR" sz="1200" b="1" dirty="0"/>
              <a:t> </a:t>
            </a:r>
            <a:r>
              <a:rPr lang="tr-TR" sz="1200" b="1" dirty="0" err="1"/>
              <a:t>Traffic</a:t>
            </a:r>
            <a:r>
              <a:rPr lang="tr-TR" sz="1200" b="1" dirty="0"/>
              <a:t> </a:t>
            </a:r>
            <a:r>
              <a:rPr lang="tr-TR" sz="1200" b="1" dirty="0" err="1"/>
              <a:t>Prediction</a:t>
            </a:r>
            <a:r>
              <a:rPr lang="tr-TR" sz="1200" b="1" dirty="0"/>
              <a:t> </a:t>
            </a:r>
            <a:r>
              <a:rPr lang="tr-TR" sz="1200" b="1" dirty="0" err="1"/>
              <a:t>and</a:t>
            </a:r>
            <a:r>
              <a:rPr lang="tr-TR" sz="1200" b="1" dirty="0"/>
              <a:t> Online </a:t>
            </a:r>
            <a:r>
              <a:rPr lang="tr-TR" sz="1200" b="1" dirty="0" err="1"/>
              <a:t>Pattern</a:t>
            </a:r>
            <a:r>
              <a:rPr lang="tr-TR" sz="1200" b="1" dirty="0"/>
              <a:t> </a:t>
            </a:r>
            <a:r>
              <a:rPr lang="tr-TR" sz="1200" b="1" dirty="0" err="1"/>
              <a:t>Recognition</a:t>
            </a:r>
            <a:r>
              <a:rPr lang="tr-TR" sz="1200" b="1" dirty="0"/>
              <a:t>. IEEE </a:t>
            </a:r>
            <a:r>
              <a:rPr lang="tr-TR" sz="1200" b="1" dirty="0" err="1"/>
              <a:t>Transactions</a:t>
            </a:r>
            <a:r>
              <a:rPr lang="tr-TR" sz="1200" b="1" dirty="0"/>
              <a:t> on </a:t>
            </a:r>
            <a:r>
              <a:rPr lang="tr-TR" sz="1200" b="1" dirty="0" err="1"/>
              <a:t>Intelligent</a:t>
            </a:r>
            <a:r>
              <a:rPr lang="tr-TR" sz="1200" b="1" dirty="0"/>
              <a:t> </a:t>
            </a:r>
            <a:r>
              <a:rPr lang="tr-TR" sz="1200" b="1" dirty="0" err="1"/>
              <a:t>Transportation</a:t>
            </a:r>
            <a:r>
              <a:rPr lang="tr-TR" sz="1200" b="1" dirty="0"/>
              <a:t> </a:t>
            </a:r>
            <a:r>
              <a:rPr lang="tr-TR" sz="1200" b="1" dirty="0" err="1"/>
              <a:t>Systems</a:t>
            </a:r>
            <a:r>
              <a:rPr lang="tr-TR" sz="1200" b="1" dirty="0"/>
              <a:t>.</a:t>
            </a:r>
          </a:p>
          <a:p>
            <a:r>
              <a:rPr lang="tr-TR" sz="1200" b="1" dirty="0" err="1"/>
              <a:t>Zhong</a:t>
            </a:r>
            <a:r>
              <a:rPr lang="tr-TR" sz="1200" b="1" dirty="0"/>
              <a:t>, R., Hu, B., Wang, F., Feng, Y., </a:t>
            </a:r>
            <a:r>
              <a:rPr lang="tr-TR" sz="1200" b="1" dirty="0" err="1"/>
              <a:t>Li</a:t>
            </a:r>
            <a:r>
              <a:rPr lang="tr-TR" sz="1200" b="1" dirty="0"/>
              <a:t>, Z., </a:t>
            </a:r>
            <a:r>
              <a:rPr lang="tr-TR" sz="1200" b="1" dirty="0" err="1"/>
              <a:t>Song</a:t>
            </a:r>
            <a:r>
              <a:rPr lang="tr-TR" sz="1200" b="1" dirty="0"/>
              <a:t>, X., ... &amp; Tan, J. (2025). Multi-</a:t>
            </a:r>
            <a:r>
              <a:rPr lang="tr-TR" sz="1200" b="1" dirty="0" err="1"/>
              <a:t>factor</a:t>
            </a:r>
            <a:r>
              <a:rPr lang="tr-TR" sz="1200" b="1" dirty="0"/>
              <a:t> </a:t>
            </a:r>
            <a:r>
              <a:rPr lang="tr-TR" sz="1200" b="1" dirty="0" err="1"/>
              <a:t>embedding</a:t>
            </a:r>
            <a:r>
              <a:rPr lang="tr-TR" sz="1200" b="1" dirty="0"/>
              <a:t> GNN-</a:t>
            </a:r>
            <a:r>
              <a:rPr lang="tr-TR" sz="1200" b="1" dirty="0" err="1"/>
              <a:t>based</a:t>
            </a:r>
            <a:r>
              <a:rPr lang="tr-TR" sz="1200" b="1" dirty="0"/>
              <a:t> </a:t>
            </a:r>
            <a:r>
              <a:rPr lang="tr-TR" sz="1200" b="1" dirty="0" err="1"/>
              <a:t>traffic</a:t>
            </a:r>
            <a:r>
              <a:rPr lang="tr-TR" sz="1200" b="1" dirty="0"/>
              <a:t> </a:t>
            </a:r>
            <a:r>
              <a:rPr lang="tr-TR" sz="1200" b="1" dirty="0" err="1"/>
              <a:t>flow</a:t>
            </a:r>
            <a:r>
              <a:rPr lang="tr-TR" sz="1200" b="1" dirty="0"/>
              <a:t> </a:t>
            </a:r>
            <a:r>
              <a:rPr lang="tr-TR" sz="1200" b="1" dirty="0" err="1"/>
              <a:t>prediction</a:t>
            </a:r>
            <a:r>
              <a:rPr lang="tr-TR" sz="1200" b="1" dirty="0"/>
              <a:t> </a:t>
            </a:r>
            <a:r>
              <a:rPr lang="tr-TR" sz="1200" b="1" dirty="0" err="1"/>
              <a:t>considering</a:t>
            </a:r>
            <a:r>
              <a:rPr lang="tr-TR" sz="1200" b="1" dirty="0"/>
              <a:t> </a:t>
            </a:r>
            <a:r>
              <a:rPr lang="tr-TR" sz="1200" b="1" dirty="0" err="1"/>
              <a:t>intersection</a:t>
            </a:r>
            <a:r>
              <a:rPr lang="tr-TR" sz="1200" b="1" dirty="0"/>
              <a:t> </a:t>
            </a:r>
            <a:r>
              <a:rPr lang="tr-TR" sz="1200" b="1" dirty="0" err="1"/>
              <a:t>similarity</a:t>
            </a:r>
            <a:r>
              <a:rPr lang="tr-TR" sz="1200" b="1" dirty="0"/>
              <a:t>. </a:t>
            </a:r>
            <a:r>
              <a:rPr lang="tr-TR" sz="1200" b="1" dirty="0" err="1"/>
              <a:t>Neurocomputing</a:t>
            </a:r>
            <a:r>
              <a:rPr lang="tr-TR" sz="1200" b="1" dirty="0"/>
              <a:t>, 620, 129193.</a:t>
            </a:r>
          </a:p>
          <a:p>
            <a:r>
              <a:rPr lang="tr-TR" sz="1200" b="1" dirty="0"/>
              <a:t>Ta, X., </a:t>
            </a:r>
            <a:r>
              <a:rPr lang="tr-TR" sz="1200" b="1" dirty="0" err="1"/>
              <a:t>Liu</a:t>
            </a:r>
            <a:r>
              <a:rPr lang="tr-TR" sz="1200" b="1" dirty="0"/>
              <a:t>, Z., Hu, X., </a:t>
            </a:r>
            <a:r>
              <a:rPr lang="tr-TR" sz="1200" b="1" dirty="0" err="1"/>
              <a:t>Yu</a:t>
            </a:r>
            <a:r>
              <a:rPr lang="tr-TR" sz="1200" b="1" dirty="0"/>
              <a:t>, L., Sun, L., &amp; </a:t>
            </a:r>
            <a:r>
              <a:rPr lang="tr-TR" sz="1200" b="1" dirty="0" err="1"/>
              <a:t>Du</a:t>
            </a:r>
            <a:r>
              <a:rPr lang="tr-TR" sz="1200" b="1" dirty="0"/>
              <a:t>, B. (2022). </a:t>
            </a:r>
            <a:r>
              <a:rPr lang="tr-TR" sz="1200" b="1" dirty="0" err="1"/>
              <a:t>Adaptive</a:t>
            </a:r>
            <a:r>
              <a:rPr lang="tr-TR" sz="1200" b="1" dirty="0"/>
              <a:t> </a:t>
            </a:r>
            <a:r>
              <a:rPr lang="tr-TR" sz="1200" b="1" dirty="0" err="1"/>
              <a:t>spatio</a:t>
            </a:r>
            <a:r>
              <a:rPr lang="tr-TR" sz="1200" b="1" dirty="0"/>
              <a:t>-temporal </a:t>
            </a:r>
            <a:r>
              <a:rPr lang="tr-TR" sz="1200" b="1" dirty="0" err="1"/>
              <a:t>graph</a:t>
            </a:r>
            <a:r>
              <a:rPr lang="tr-TR" sz="1200" b="1" dirty="0"/>
              <a:t> </a:t>
            </a:r>
            <a:r>
              <a:rPr lang="tr-TR" sz="1200" b="1" dirty="0" err="1"/>
              <a:t>neural</a:t>
            </a:r>
            <a:r>
              <a:rPr lang="tr-TR" sz="1200" b="1" dirty="0"/>
              <a:t> network </a:t>
            </a:r>
            <a:r>
              <a:rPr lang="tr-TR" sz="1200" b="1" dirty="0" err="1"/>
              <a:t>for</a:t>
            </a:r>
            <a:r>
              <a:rPr lang="tr-TR" sz="1200" b="1" dirty="0"/>
              <a:t> </a:t>
            </a:r>
            <a:r>
              <a:rPr lang="tr-TR" sz="1200" b="1" dirty="0" err="1"/>
              <a:t>traffic</a:t>
            </a:r>
            <a:r>
              <a:rPr lang="tr-TR" sz="1200" b="1" dirty="0"/>
              <a:t> </a:t>
            </a:r>
            <a:r>
              <a:rPr lang="tr-TR" sz="1200" b="1" dirty="0" err="1"/>
              <a:t>forecasting</a:t>
            </a:r>
            <a:r>
              <a:rPr lang="tr-TR" sz="1200" b="1" dirty="0"/>
              <a:t>. Knowledge-</a:t>
            </a:r>
            <a:r>
              <a:rPr lang="tr-TR" sz="1200" b="1" dirty="0" err="1"/>
              <a:t>based</a:t>
            </a:r>
            <a:r>
              <a:rPr lang="tr-TR" sz="1200" b="1" dirty="0"/>
              <a:t> </a:t>
            </a:r>
            <a:r>
              <a:rPr lang="tr-TR" sz="1200" b="1" dirty="0" err="1"/>
              <a:t>systems</a:t>
            </a:r>
            <a:r>
              <a:rPr lang="tr-TR" sz="1200" b="1" dirty="0"/>
              <a:t>, 242, 108199.</a:t>
            </a:r>
            <a:endParaRPr lang="tr-TR" sz="1200" dirty="0"/>
          </a:p>
        </p:txBody>
      </p:sp>
    </p:spTree>
    <p:extLst>
      <p:ext uri="{BB962C8B-B14F-4D97-AF65-F5344CB8AC3E}">
        <p14:creationId xmlns:p14="http://schemas.microsoft.com/office/powerpoint/2010/main" val="16193020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862BB99-DED8-B3DA-D3E8-E2DD8B26BE2F}"/>
              </a:ext>
            </a:extLst>
          </p:cNvPr>
          <p:cNvSpPr>
            <a:spLocks noGrp="1"/>
          </p:cNvSpPr>
          <p:nvPr>
            <p:ph type="title"/>
          </p:nvPr>
        </p:nvSpPr>
        <p:spPr/>
        <p:txBody>
          <a:bodyPr>
            <a:normAutofit/>
          </a:bodyPr>
          <a:lstStyle/>
          <a:p>
            <a:r>
              <a:rPr lang="tr-TR" sz="4800" dirty="0"/>
              <a:t>Beni dinlediğiniz için teşekkürler.</a:t>
            </a:r>
          </a:p>
        </p:txBody>
      </p:sp>
      <p:sp>
        <p:nvSpPr>
          <p:cNvPr id="3" name="İçerik Yer Tutucusu 2">
            <a:extLst>
              <a:ext uri="{FF2B5EF4-FFF2-40B4-BE49-F238E27FC236}">
                <a16:creationId xmlns:a16="http://schemas.microsoft.com/office/drawing/2014/main" id="{5A774086-4423-6E10-61FD-753E9C3AF7BC}"/>
              </a:ext>
            </a:extLst>
          </p:cNvPr>
          <p:cNvSpPr>
            <a:spLocks noGrp="1"/>
          </p:cNvSpPr>
          <p:nvPr>
            <p:ph idx="1"/>
          </p:nvPr>
        </p:nvSpPr>
        <p:spPr/>
        <p:txBody>
          <a:bodyPr>
            <a:normAutofit/>
          </a:bodyPr>
          <a:lstStyle/>
          <a:p>
            <a:r>
              <a:rPr lang="tr-TR" sz="4800" dirty="0"/>
              <a:t>Sorularınız?</a:t>
            </a:r>
          </a:p>
        </p:txBody>
      </p:sp>
    </p:spTree>
    <p:extLst>
      <p:ext uri="{BB962C8B-B14F-4D97-AF65-F5344CB8AC3E}">
        <p14:creationId xmlns:p14="http://schemas.microsoft.com/office/powerpoint/2010/main" val="2760221119"/>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TotalTime>
  <Words>3075</Words>
  <Application>Microsoft Office PowerPoint</Application>
  <PresentationFormat>Geniş ekran</PresentationFormat>
  <Paragraphs>343</Paragraphs>
  <Slides>45</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45</vt:i4>
      </vt:variant>
    </vt:vector>
  </HeadingPairs>
  <TitlesOfParts>
    <vt:vector size="49" baseType="lpstr">
      <vt:lpstr>Arial</vt:lpstr>
      <vt:lpstr>Calibri</vt:lpstr>
      <vt:lpstr>Calibri Light</vt:lpstr>
      <vt:lpstr>Office Teması</vt:lpstr>
      <vt:lpstr>Spatio GNN Kullanılarak Trafikte Kritik Nokta Analizi</vt:lpstr>
      <vt:lpstr>GNN (Graph Neural Network)</vt:lpstr>
      <vt:lpstr>GNN (Graph Neural Network)</vt:lpstr>
      <vt:lpstr>GNN (Graph Neural Network)</vt:lpstr>
      <vt:lpstr>GNN (Graph Neural Network)</vt:lpstr>
      <vt:lpstr>GNN (Graph Neural Network)</vt:lpstr>
      <vt:lpstr>Spatio GNN</vt:lpstr>
      <vt:lpstr>Spatio GNN</vt:lpstr>
      <vt:lpstr>Spatio GNN</vt:lpstr>
      <vt:lpstr>Spatio GNN (Trafik Ağının Graf Temsili)</vt:lpstr>
      <vt:lpstr>Literatür Araştırması (Sunulacak Makaleler)</vt:lpstr>
      <vt:lpstr>1. A Graph Neural Network (GNN)-Based Approach for Real-Time Estimation of Traffic Speed in Sustainable Smart Cities</vt:lpstr>
      <vt:lpstr>1. A Graph Neural Network (GNN)-Based Approach for Real-Time Estimation of Traffic Speed in Sustainable Smart Cities</vt:lpstr>
      <vt:lpstr>1. A Graph Neural Network (GNN)-Based Approach for Real-Time Estimation of Traffic Speed in Sustainable Smart Cities</vt:lpstr>
      <vt:lpstr>2. Bi-GRCN: A Spatio-Temporal Traffic Flow Prediction Model Based on Graph Neural Network</vt:lpstr>
      <vt:lpstr>2. Bi-GRCN: A Spatio-Temporal Traffic Flow Prediction Model Based on Graph Neural Network</vt:lpstr>
      <vt:lpstr>3. AST-GNN: An attention-based spatio-temporal graph neural network for Interaction-aware pedestrian trajectory prediction</vt:lpstr>
      <vt:lpstr>3. AST-GNN: An attention-based spatio-temporal graph neural network for Interaction-aware pedestrian trajectory prediction</vt:lpstr>
      <vt:lpstr>3. AST-GNN: An attention-based spatio-temporal graph neural network for Interaction-aware pedestrian trajectory prediction</vt:lpstr>
      <vt:lpstr>4. Semi-decentralized Training of Spatio-Temporal Graph Neural Networks for Traffic Prediction</vt:lpstr>
      <vt:lpstr>4. Semi-decentralized Training of Spatio-Temporal Graph Neural Networks for Traffic Prediction</vt:lpstr>
      <vt:lpstr>5. STGC-GNNs: A GNN-based traffic prediction framework with a spatial–temporal Granger causality graph</vt:lpstr>
      <vt:lpstr>5. STGC-GNNs: A GNN-based traffic prediction framework with a spatial–temporal Granger causality graph</vt:lpstr>
      <vt:lpstr>6. A heterogeneous traffic spatio-temporal graph convolution model for traffic prediction</vt:lpstr>
      <vt:lpstr>6. A heterogeneous traffic spatio-temporal graph convolution model for traffic prediction</vt:lpstr>
      <vt:lpstr>7. Spatio-Temporal Pivotal Graph Neural Networks for Traffic Flow Forecasting</vt:lpstr>
      <vt:lpstr>7. Spatio-Temporal Pivotal Graph Neural Networks for Traffic Flow Forecasting</vt:lpstr>
      <vt:lpstr>8. Spatiotemporal Factorized Graph Neural Networks for Joint Large-Scale Traffic Prediction and Online Pattern Recognition</vt:lpstr>
      <vt:lpstr>8. Spatiotemporal Factorized Graph Neural Networks for Joint Large-Scale Traffic Prediction and Online Pattern Recognition</vt:lpstr>
      <vt:lpstr>9. Multi-factor embedding GNN-based traffic flow prediction considering intersection similarity</vt:lpstr>
      <vt:lpstr>9. Multi-factor embedding GNN-based traffic flow prediction considering intersection similarity</vt:lpstr>
      <vt:lpstr>9. Multi-factor embedding GNN-based traffic flow prediction considering intersection similarity</vt:lpstr>
      <vt:lpstr>10. Adaptive spatio-temporal graph neural network for traffic forecasting</vt:lpstr>
      <vt:lpstr>10. Adaptive spatio-temporal graph neural network for traffic forecasting</vt:lpstr>
      <vt:lpstr>10. Adaptive spatio-temporal graph neural network for traffic forecasting</vt:lpstr>
      <vt:lpstr>Literatür Araştırması</vt:lpstr>
      <vt:lpstr>Literatür Araştırması</vt:lpstr>
      <vt:lpstr>Literatür Araştırması</vt:lpstr>
      <vt:lpstr>Veri Setleri</vt:lpstr>
      <vt:lpstr>Veri Setleri</vt:lpstr>
      <vt:lpstr>Veri Setleri</vt:lpstr>
      <vt:lpstr>Çalışma Planı</vt:lpstr>
      <vt:lpstr>Aktif Çalışmalar</vt:lpstr>
      <vt:lpstr>Kaynaklar</vt:lpstr>
      <vt:lpstr>Beni dinlediğiniz için 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Spatio GNN Kullanılarak Trafikte Kritik Nokta Analizi</dc:title>
  <dc:creator>Mehmet Cüneyt ÖZBALCI</dc:creator>
  <cp:lastModifiedBy>lsalsalsa525525525lsa@outlook.com</cp:lastModifiedBy>
  <cp:revision>43</cp:revision>
  <dcterms:created xsi:type="dcterms:W3CDTF">2025-12-03T10:24:38Z</dcterms:created>
  <dcterms:modified xsi:type="dcterms:W3CDTF">2025-12-09T10:41:16Z</dcterms:modified>
</cp:coreProperties>
</file>